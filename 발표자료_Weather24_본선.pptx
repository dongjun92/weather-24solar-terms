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8" name="Picture 7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246120"/>
            <a:ext cx="3671507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 (중등 3학년 ~ 고등 2학년)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선정 근거 ① 2015·2022 개정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선정 근거 ② 임계값(기준온도)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선정 근거 ③ 24절기를 생활 속에서 들어 본 세대이나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근거 — 4단 조절 설계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수식 비노출 · 조작은 ‘기준선 끌기’ 하나로 시작 (첫 조작까지 클릭 2회)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용어 3단 계단 — 생활어(‘덥다’) → 조작어(기준) → 학술어(임계값·유효 열용량) 순 도입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심화는 선택 분기 — 열관성 실험실(에너지수지 모형)·전국 16지점·26개 비교 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읽기 부담 관리 — 화면 본문 한 문장 45자 이하, 한 화면 한 질문 원칙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교실 투입 형태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교사용 학습지 동시 제공 — 수업 흐름 · 활동지 · 오개념 표 8행 · 평가 루브릭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설치·로그인·결제 없음 · 크롬 단독 구동 · 모바일 대응(390px 검증)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미션 1 기준 16화면 · 진행 눈금 1/16~16/16 실시간 표시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기상·기후 개념 → 결과물 구현 대조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① 기후 평년값과 계절의 길이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→ 미션 2 ‘여름은 며칠일까’ · 화면 전역 ‘30년 기후평년 아님’ 고지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② 기온 상승과 극값·계절 이동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→ 미션 1 처서 · 미션 5 계절 지연 · 폭염/열대야 기준표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③ 24절기의 과학 (태양황경 15° 간격)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→ 24절기 궤도 화면 · 절기별 황경·지구–태양 거리 표시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④ 습도·강수 변화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→ 지표 3종(기온·강수·습도) · 미션 4 강수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⑤ (확장) CO₂–기온 상관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→ ‘지구 맥락’ 화면 · 상관 제시, 인과 단정 회피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미해결 문제 정의 — 절기·날씨·기후 혼동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절기(천문 날짜)에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→ 학습자가 검증 경험 없음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체험 중 주제 인식 근거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① 첫 화면이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표제 “24절기, 지금도 맞을까?”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부제 “움직이지 않는 절기와 움직이는 기후를 나란히”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② 매 화면 자료 범위 고지 (아래 실화면)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“기상청 ASOS 실측 · 과거 5년 vs 현재 5년 — 관측 신호이고 30년 기후평년 아님”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“절기는 태양 위치로 정한 천문 날짜라 해마다 거의 움직이지 않음”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③ 개념 렌즈 4문항 — 절기·날씨·기후 분류 통과 후 관측 진입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지났는데도 어제 낮 기온 31°C” → 날씨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“처서를 9월로 옮겨야 한다” → 절기(오개념 판별 문항)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80" y="4462272"/>
            <a:ext cx="4255932" cy="180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포인트 3중 결합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① 한국 고유 문화 기준선을 과학 검증 대상으로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 = 학습자가 이미 아는 ‘약속’ → 반증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절기는 불변, 관측은 이동 — 두 축 분리가 학습 골격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② 정의(定義)를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‘덥다’를 몇 도로 볼지 학습자가 결정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같은 자료로 다른 결론 도출 경험 → 기준 공개의 필요성 체득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③ 관측과 모형의 동시 제공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열관성 실험실 — 0차원 에너지수지 모형 직접 조작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필터 조작이 아니라 물리량(유효 열용량·온실효과) 조작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기존 서비스 대비 위치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PhET·En-ROADS — 모형만, 실측 대조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 스트라이프·기상자료개방포털 — 실측만, 조작 학습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Weather24 — 실측 + 모형 + 문화 기준선 동시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① 예측 봉인 — 자료 비공개 상태로 내 생각 기록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② 직접 조작 — 기준선·지역·절기·지표 변경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③ 봉인 해제 — 예측 대 자료 대조, 어긋난 지점 명시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④ 내 결론(CERL) — 주장·근거·추론·한계 작성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⑤ 이해 확인 → 모범 예시 비교 → 다른 절기 적용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인터랙션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⇅ 손잡이 직접 끌기 — 0초 반응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질문 조립기 — 조건 변경 시 검증 가능한 질문 문장 자동 생성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실험실 예측-공개 — 예측 후에만 내 값으로 계산한 결과 개방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정직한 실패 상태 — 비교 불가 시 앱이 스스로 한계 선언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산출물 회수 구조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완료 화면 ‘내 기록’ — 예측·CERL 5편·이해 확인·전이 3문항·실험 값·자유탐구 질문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조작 → 즉시 반응 (전 경로 실측 확인)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⇅ 손잡이 끌기 / 슬라이더 / ＋− 단추 / ‘자주 쓰는 기준’ — 4경로 전부 작동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즉시 재계산 — 더위일·마지막 초과일·지도·표 동시 갱신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조작 강제 게이트 — 조작 없이 진행 불가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(state.moved 조건)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미션 2 — 25°C·28°C 두 기준 요구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미션 3 — 제주·강원 두 지역 요구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미션 4 — 1mm·30mm 이상 두 기준 요구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조작 결과 → 학습 개념 연결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 상향 → 일수 감소 → “모호한 말은 기준을 정해야 자료가 됨”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1mm 감소·50mm 증가 → “빈도와 강도는 다른 지표”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온실효과 상향 → 곡선 상승·지연 불변 → “지연과 온난화는 다른 원인”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변수 탐구 범위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지역 16지점 × 절기 24 × 지표 3종 × 기준값 연속 × 비교 구간 26개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직관성 확보 조치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 전체에 화면 라벨 명시 — 지역·절기·지표·자주 쓰는 기준·비교 기간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결과 수치를 조작부 바로 위 고정 배치 — 시선 이동 최소화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스크린리더 — 슬라이더 값 변경 시 결과 수치까지 낭독(aria-valuetext)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pic>
        <p:nvPicPr>
          <p:cNvPr id="19" name="Picture 18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74" y="3616452"/>
            <a:ext cx="2251544" cy="2653605"/>
          </a:xfrm>
          <a:prstGeom prst="rect">
            <a:avLst/>
          </a:prstGeom>
        </p:spPr>
      </p:pic>
      <p:pic>
        <p:nvPicPr>
          <p:cNvPr id="20" name="Picture 19" descr="lab-eb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704" y="4631434"/>
            <a:ext cx="3686897" cy="1638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구체적 학습 성과 — 완료 시 회수되는 산출물 (교사 채점 근거)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봉인 예측 5건 · 개념 렌즈 4문항 정답률 · 이해 확인 5문항 정답률(1차/2차 구분)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내 결론(CERL) 5편 — 주장·근거·추론·한계 각 요소 작성 이력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전이 확인 3문항 — 학습하지 않은 상황에 적용 여부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열관성 실험실 — 학습자가 고른 물리량과 그때의 계절 지연 값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자유탐구 — 내가 만든 질문 + 내가 쓴 결론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잘못된 조작·선택에 대한 학습적 피드백 6종 (전부 배포본 실측)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① 이해 확인 1차 오답 → 정답 비공개 + 자료로 되돌리는 힌트 제시 (전 문항 retryHint)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② 예측 불일치 → “내 예측 vs 자료” 대조 후 “어긋난 지점이 배울 곳” 명시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③ 실험실 예측 오답 → 예측 방향과 모형 결과 병기 공개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④ 근거에 단위 누락 → “그 숫자가 무엇을 센 값인지 단위나 기간을 함께” 차단 안내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⑤ 한계에 범위어 누락 → “어디까지 통하는지” 차단 안내 (지역·기간·기준·원인)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⑥ 기준 극단 조작 → 조작 화면에서 즉시 “비교할 것이 남지 않음 · 기준선 하향” 안내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우회 차단 — 정답 고지형 회피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문장 중복 검사 — 같은 글 복사 차단 · 화면 안내문 베끼기 차단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오개념 검출 — 학생 문장의 범위 확대·인과 단정을 필수 경로에서 점검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사용 기상·기후 데이터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기상청 ASOS 종관기상관측 일자료 — 1969~2026 · 16지점 · 3지표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 / 26개 이동 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기상청 공식 기준표 — 폭염·열대야·결빙일 (기간 상이 명시)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NOAA·OWID — CO₂ 농도와 전지구 기온 (출처·라이선스 표기)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실제 반영·작동 근거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자동 회귀 검증 8,360건 통과 (데이터 8,213 + 문서 147)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과학 수치 검산 — 태양년 365.24일 · 삭망월 354.37일 · 근일점 0.983 AU · 태양상수 1361 W/m²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구동 안정성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1366×768 / 390×844 / 1920×1080 — 11화면 겹침·잘림·넘침·콘솔 오류 0건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외부 도메인 0 · 첫 로드 134KB · 로그인·결제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배포본 = 제출 소스 해시 일치 검증 자동화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학습자 결론을 과장·범위·인과 3축으로 점검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실측 응답 예 — “서울 자료만으로 우리나라 전체를 말할 수 없고, ‘기후변화 때문에’라는 원인도 단정할 수 없음”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구조화 출력 강제 · 외부 전송 동의 후에만 요청 · 실패 시 기기 내 규칙 점검으로 폴백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제작 과정의 AI — Claude Code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데이터 수집·가공 → 화면 구현 → 카피 정비 전 과정 AI 페어 작업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AI 레드팀 6회 — 자기 결과물을 교육효과·과학무결성·완성도·심사기준·카피·UI 축으로 반증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AI 품질 평가 세트 100문항 — 허위 수치·결론 대필·인과 과장 0건 (100/100 통과)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프롬프트 세션 원문 6건 제출 — 비밀값·이메일·로컬 경로 마스킹 처리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재발 방지 자동화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제출 게이트 — 배포본·소스 해시 대조 · 비밀값 스캔 · 문서 정합성 · 캐시 버스팅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게이트 자기검증 — 위반 문자열을 실제로 잡는지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86" y="5138927"/>
            <a:ext cx="4869133" cy="92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