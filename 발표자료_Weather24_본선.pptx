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6"/>
    <p:sldId id="260" r:id="rId7"/>
    <p:sldId id="282" r:id="rId8"/>
    <p:sldId id="283" r:id="rId9"/>
    <p:sldId id="284" r:id="rId10"/>
    <p:sldId id="285" r:id="rId11"/>
    <p:sldId id="286" r:id="rId12"/>
    <p:sldId id="268" r:id="rId14"/>
  </p:sldIdLst>
  <p:sldSz cx="12192000" cy="6858000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A5E"/>
    <a:srgbClr val="F3ECDC"/>
    <a:srgbClr val="E76F51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B0704-418A-42A8-B767-71FC43B0918A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E997E-8190-4D82-86DC-FE0D784C84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852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1AEB8F-97AB-4D52-9978-85C6494D41E0}"/>
              </a:ext>
            </a:extLst>
          </p:cNvPr>
          <p:cNvSpPr txBox="1"/>
          <p:nvPr userDrawn="1"/>
        </p:nvSpPr>
        <p:spPr>
          <a:xfrm>
            <a:off x="1354157" y="1653313"/>
            <a:ext cx="94836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기상</a:t>
            </a:r>
            <a:r>
              <a:rPr lang="ko-KR" altLang="en-US" sz="5400" b="1" dirty="0" err="1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기후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5400" b="1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5400" b="1" dirty="0" err="1">
                <a:solidFill>
                  <a:schemeClr val="bg1"/>
                </a:solidFill>
                <a:latin typeface="+mj-ea"/>
                <a:ea typeface="+mj-ea"/>
              </a:rPr>
              <a:t>해커톤</a:t>
            </a:r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 경진대회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5123A-5876-4A69-91B8-D4D5182FF61C}"/>
              </a:ext>
            </a:extLst>
          </p:cNvPr>
          <p:cNvSpPr txBox="1"/>
          <p:nvPr userDrawn="1"/>
        </p:nvSpPr>
        <p:spPr>
          <a:xfrm>
            <a:off x="1517801" y="3501204"/>
            <a:ext cx="1625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프로젝트명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BC3B1A-711B-4C9C-A54E-C1F461C74791}"/>
              </a:ext>
            </a:extLst>
          </p:cNvPr>
          <p:cNvSpPr txBox="1"/>
          <p:nvPr userDrawn="1"/>
        </p:nvSpPr>
        <p:spPr>
          <a:xfrm>
            <a:off x="1517801" y="4122113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 err="1">
                <a:solidFill>
                  <a:srgbClr val="F3ECDC"/>
                </a:solidFill>
                <a:latin typeface="+mj-ea"/>
                <a:ea typeface="+mj-ea"/>
              </a:rPr>
              <a:t>팀명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0C9A37-82F9-48F4-B02D-008F91CCD2E3}"/>
              </a:ext>
            </a:extLst>
          </p:cNvPr>
          <p:cNvSpPr txBox="1"/>
          <p:nvPr userDrawn="1"/>
        </p:nvSpPr>
        <p:spPr>
          <a:xfrm>
            <a:off x="1517801" y="4743022"/>
            <a:ext cx="1662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결과물 </a:t>
            </a:r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URL</a:t>
            </a:r>
            <a:endParaRPr lang="ko-KR" altLang="en-US" sz="2000" b="0" dirty="0">
              <a:solidFill>
                <a:srgbClr val="F3ECDC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5C146-79C6-43F2-B429-1E96AF12F936}"/>
              </a:ext>
            </a:extLst>
          </p:cNvPr>
          <p:cNvSpPr txBox="1"/>
          <p:nvPr userDrawn="1"/>
        </p:nvSpPr>
        <p:spPr>
          <a:xfrm>
            <a:off x="1517801" y="5363930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0" dirty="0">
                <a:solidFill>
                  <a:srgbClr val="F3ECDC"/>
                </a:solidFill>
                <a:latin typeface="+mj-ea"/>
                <a:ea typeface="+mj-ea"/>
              </a:rPr>
              <a:t>I </a:t>
            </a:r>
            <a:r>
              <a:rPr lang="ko-KR" altLang="en-US" sz="2000" b="0" dirty="0">
                <a:solidFill>
                  <a:srgbClr val="F3ECDC"/>
                </a:solidFill>
                <a:latin typeface="+mj-ea"/>
                <a:ea typeface="+mj-ea"/>
              </a:rPr>
              <a:t>발표자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7A9BE40-1B9A-44EC-815C-CDB3DDB49A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6323" y="3515502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D700112A-8E80-4A44-8018-E7FBCDB209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6323" y="4136411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텍스트 개체 틀 14">
            <a:extLst>
              <a:ext uri="{FF2B5EF4-FFF2-40B4-BE49-F238E27FC236}">
                <a16:creationId xmlns:a16="http://schemas.microsoft.com/office/drawing/2014/main" id="{ADEC1D49-B4EB-4025-8B2B-0F584C025A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96323" y="4763583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 및 표지 필수 기재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텍스트 개체 틀 14">
            <a:extLst>
              <a:ext uri="{FF2B5EF4-FFF2-40B4-BE49-F238E27FC236}">
                <a16:creationId xmlns:a16="http://schemas.microsoft.com/office/drawing/2014/main" id="{09F741B2-080E-47F6-BE11-888EAA85F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6323" y="5378228"/>
            <a:ext cx="7481682" cy="371513"/>
          </a:xfrm>
        </p:spPr>
        <p:txBody>
          <a:bodyPr lIns="90000" tIns="46800" rIns="90000" bIns="46800" anchor="t" anchorCtr="0"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내용 작성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23030E-3450-4E6E-981D-F738A0B4A794}"/>
              </a:ext>
            </a:extLst>
          </p:cNvPr>
          <p:cNvSpPr/>
          <p:nvPr userDrawn="1"/>
        </p:nvSpPr>
        <p:spPr>
          <a:xfrm>
            <a:off x="1517800" y="2606369"/>
            <a:ext cx="91564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161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2160" userDrawn="1">
          <p15:clr>
            <a:srgbClr val="FBAE40"/>
          </p15:clr>
        </p15:guide>
        <p15:guide id="7" pos="211" userDrawn="1">
          <p15:clr>
            <a:srgbClr val="FBAE40"/>
          </p15:clr>
        </p15:guide>
        <p15:guide id="8" pos="7469" userDrawn="1">
          <p15:clr>
            <a:srgbClr val="FBAE40"/>
          </p15:clr>
        </p15:guide>
        <p15:guide id="9" orient="horz" pos="41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0C8CF79-29FC-4E04-B206-41380B6F87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37" y="6053676"/>
            <a:ext cx="2374126" cy="569790"/>
          </a:xfrm>
          <a:prstGeom prst="rect">
            <a:avLst/>
          </a:prstGeom>
        </p:spPr>
      </p:pic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97E97659-1623-40B7-BB80-CFF3954A80C2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6B409B54-59B6-4512-9C77-FCEE38C684D4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1D16D-A60E-436E-8DFD-19757DBA4EB5}"/>
              </a:ext>
            </a:extLst>
          </p:cNvPr>
          <p:cNvSpPr txBox="1"/>
          <p:nvPr userDrawn="1"/>
        </p:nvSpPr>
        <p:spPr>
          <a:xfrm>
            <a:off x="4272424" y="2505670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>
                <a:solidFill>
                  <a:schemeClr val="bg1"/>
                </a:solidFill>
                <a:latin typeface="+mj-ea"/>
                <a:ea typeface="+mj-ea"/>
              </a:rPr>
              <a:t>감사합니다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A8B0727-89E1-4E63-A27D-0AD368A2F4CB}"/>
              </a:ext>
            </a:extLst>
          </p:cNvPr>
          <p:cNvSpPr/>
          <p:nvPr userDrawn="1"/>
        </p:nvSpPr>
        <p:spPr>
          <a:xfrm>
            <a:off x="4198070" y="3458726"/>
            <a:ext cx="379586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76A7-A708-47A5-B184-A260C6B97D1B}"/>
              </a:ext>
            </a:extLst>
          </p:cNvPr>
          <p:cNvSpPr txBox="1"/>
          <p:nvPr userDrawn="1"/>
        </p:nvSpPr>
        <p:spPr>
          <a:xfrm>
            <a:off x="4875153" y="3896636"/>
            <a:ext cx="24416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0" dirty="0">
                <a:solidFill>
                  <a:srgbClr val="F3ECDC"/>
                </a:solidFill>
                <a:latin typeface="+mj-ea"/>
                <a:ea typeface="+mj-ea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4090112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  <p15:guide id="9" orient="horz" pos="415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팀 및 결과물 기본 정보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98DDD3F-FB3F-4F18-839F-C29BDCC32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921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6DDB0E97-6316-4A0C-B265-BD114253F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11FE98CB-41F7-4DD0-8F02-1B92269A99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7499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AE4AA64-0452-4EC4-AA5F-1BE587C4F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14">
            <a:extLst>
              <a:ext uri="{FF2B5EF4-FFF2-40B4-BE49-F238E27FC236}">
                <a16:creationId xmlns:a16="http://schemas.microsoft.com/office/drawing/2014/main" id="{7FE64648-02D4-45B0-8606-7020E78DD6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4" y="233162"/>
            <a:ext cx="6544461" cy="3161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1600" b="1">
                <a:solidFill>
                  <a:srgbClr val="E76F5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</p:spTree>
    <p:extLst>
      <p:ext uri="{BB962C8B-B14F-4D97-AF65-F5344CB8AC3E}">
        <p14:creationId xmlns:p14="http://schemas.microsoft.com/office/powerpoint/2010/main" val="298927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4">
            <a:extLst>
              <a:ext uri="{FF2B5EF4-FFF2-40B4-BE49-F238E27FC236}">
                <a16:creationId xmlns:a16="http://schemas.microsoft.com/office/drawing/2014/main" id="{C5EA6D6C-0CA9-42B0-A790-3982290C4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711555"/>
            <a:ext cx="6544461" cy="426913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buNone/>
              <a:defRPr sz="2400" b="1">
                <a:solidFill>
                  <a:srgbClr val="243A5E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/>
              <a:t>I </a:t>
            </a:r>
            <a:r>
              <a:rPr lang="ko-KR" altLang="en-US" dirty="0"/>
              <a:t>내용 작성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387E9C-A654-4F17-8BEE-06563E6786FF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57895F8A-EC22-44D0-8B1B-87A20C892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683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5D5512D-7CF2-4FCF-8C33-F43BA5B90CAC}"/>
              </a:ext>
            </a:extLst>
          </p:cNvPr>
          <p:cNvSpPr/>
          <p:nvPr userDrawn="1"/>
        </p:nvSpPr>
        <p:spPr>
          <a:xfrm>
            <a:off x="695325" y="549275"/>
            <a:ext cx="10801350" cy="45719"/>
          </a:xfrm>
          <a:prstGeom prst="rec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순서도: 데이터 12">
            <a:extLst>
              <a:ext uri="{FF2B5EF4-FFF2-40B4-BE49-F238E27FC236}">
                <a16:creationId xmlns:a16="http://schemas.microsoft.com/office/drawing/2014/main" id="{69A16BF5-D133-4522-AD2A-3FBAC0FC5999}"/>
              </a:ext>
            </a:extLst>
          </p:cNvPr>
          <p:cNvSpPr/>
          <p:nvPr userDrawn="1"/>
        </p:nvSpPr>
        <p:spPr>
          <a:xfrm>
            <a:off x="10117797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순서도: 데이터 13">
            <a:extLst>
              <a:ext uri="{FF2B5EF4-FFF2-40B4-BE49-F238E27FC236}">
                <a16:creationId xmlns:a16="http://schemas.microsoft.com/office/drawing/2014/main" id="{C9422030-7548-4B55-A952-F769509572C8}"/>
              </a:ext>
            </a:extLst>
          </p:cNvPr>
          <p:cNvSpPr/>
          <p:nvPr userDrawn="1"/>
        </p:nvSpPr>
        <p:spPr>
          <a:xfrm>
            <a:off x="10837843" y="0"/>
            <a:ext cx="658832" cy="549275"/>
          </a:xfrm>
          <a:prstGeom prst="flowChartInputOutput">
            <a:avLst/>
          </a:prstGeom>
          <a:solidFill>
            <a:srgbClr val="243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67970-E004-4559-8E24-E6B3B8906483}"/>
              </a:ext>
            </a:extLst>
          </p:cNvPr>
          <p:cNvSpPr txBox="1"/>
          <p:nvPr userDrawn="1"/>
        </p:nvSpPr>
        <p:spPr>
          <a:xfrm>
            <a:off x="695325" y="667376"/>
            <a:ext cx="34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 b="1" dirty="0">
                <a:solidFill>
                  <a:srgbClr val="243A5E"/>
                </a:solidFill>
                <a:latin typeface="+mj-ea"/>
                <a:ea typeface="+mj-ea"/>
              </a:rPr>
              <a:t>I </a:t>
            </a:r>
            <a:r>
              <a:rPr lang="ko-KR" altLang="en-US" sz="2400" b="1" dirty="0">
                <a:solidFill>
                  <a:srgbClr val="243A5E"/>
                </a:solidFill>
                <a:latin typeface="+mj-ea"/>
                <a:ea typeface="+mj-ea"/>
              </a:rPr>
              <a:t>발표 자료 가이드 라인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77ACDA-41BD-4F81-B47D-36F3F0EED278}"/>
              </a:ext>
            </a:extLst>
          </p:cNvPr>
          <p:cNvSpPr txBox="1"/>
          <p:nvPr userDrawn="1"/>
        </p:nvSpPr>
        <p:spPr>
          <a:xfrm>
            <a:off x="1811517" y="6196387"/>
            <a:ext cx="8568967" cy="423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600" dirty="0">
                <a:solidFill>
                  <a:srgbClr val="FF0000"/>
                </a:solidFill>
              </a:rPr>
              <a:t>해당 슬라이드는 발표자료 제출 시 삭제 후 제출 바랍니다</a:t>
            </a:r>
            <a:r>
              <a:rPr lang="en-US" altLang="ko-KR" sz="1600" dirty="0">
                <a:solidFill>
                  <a:srgbClr val="FF0000"/>
                </a:solidFill>
              </a:rPr>
              <a:t>.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슬라이드 번호 개체 틀 5">
            <a:extLst>
              <a:ext uri="{FF2B5EF4-FFF2-40B4-BE49-F238E27FC236}">
                <a16:creationId xmlns:a16="http://schemas.microsoft.com/office/drawing/2014/main" id="{42C6C439-B5BD-4294-9193-AAA46B502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5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pos="438">
          <p15:clr>
            <a:srgbClr val="FBAE40"/>
          </p15:clr>
        </p15:guide>
        <p15:guide id="4" pos="7242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pos="211">
          <p15:clr>
            <a:srgbClr val="FBAE40"/>
          </p15:clr>
        </p15:guide>
        <p15:guide id="7" pos="746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7721D-3748-4F22-935E-59022A26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3BD5AD-BBA7-4B77-A43A-29AF35656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F61F4A-886A-4754-899D-7B35E937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775C46-0311-4688-9CA5-7847BCE3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59C4D-CFC2-4C3C-8DB8-5710BEED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97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EF282-9284-40F9-9DEB-E1E9D1CB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ED96F-33B4-4E8C-A426-2BCA46C7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121BD3-8D5D-41EE-AC33-C61BFA2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82456C-F7A3-412C-BCEC-A32CC4AB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F49CB-E06A-4D36-B52E-BF4A2CFF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29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94528-83D7-46FD-9AC8-665694F2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05D25-A6A4-48F0-A862-ECF2E7BC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712EE4-53D5-45EA-BED3-FD991C916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01DDFE-134E-42D1-BB98-29F8F114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9AB72-1B66-44A1-9805-44A7C856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D2497-C25D-470D-92CA-C039E878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20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A2287-3A24-4A9B-A25C-531CC264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FB798-5B87-4DD3-94D6-BEFC388C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2DFEC1-F453-4A2E-A832-DEED2000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0371965-04E9-436F-B256-D1401C653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1F59A6-D04C-4F7E-9946-599FA5E87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5017B9-CCA4-42F7-B39F-FFF2CE73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B15B95-5DD7-4399-8EBC-FA0DA649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93FF6A-3BA0-4773-8398-722E07C3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050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70173-A86C-487C-A787-FF29ACA9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5E747-9B22-41B0-8718-C277D12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540313-FB3C-4C0E-80BC-E8B65364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9761E5-6E32-4B78-8E21-9398D728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33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504F72-5EE4-42BC-A125-51B4FF18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580218-30C8-4F48-B7E0-09D1497E6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77B4D-3229-48D0-A626-3703A0C2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342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E0F5B-8895-426F-B5C5-52CFB3F8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86C6F-BE04-4F13-BEC6-E0EAEDCE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AE29C7-041E-4A84-AE5D-269ACD808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DDF39-D622-4A00-9F7B-0CCAA6C34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C52D2-2DE1-476F-8614-DA7D54B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E2CC28-BBA0-4F98-856B-30A1FE5C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83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1DCCD-97CD-48C5-9C72-A9CDB50A9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4355B30-69BD-4F2B-9EF6-B2B1A38E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439DBE-EC05-4A3C-AB44-24C354CEB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6C58D7-4282-4696-9A7D-B3EC9338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ACE517-5683-4E62-90F7-4669A241F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61E488-DDB4-4992-B7BB-3862EA94F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96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70F54-4970-4D4D-951B-C8E2B9D08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152613-2EE1-492C-B78C-E20142F2A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32238-F504-4187-9E88-D5398C29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D3F913-FBC0-425B-B90D-A6B047850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FB53F-D184-4BEE-B37A-04B8B52C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786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EB6B8F-8EC3-45A6-942F-CAAEE7E76B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F1181A-43D6-4990-AF25-41F9E5EB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8DB4D7-5165-4439-B29F-2DDD7DCF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0A07BB-E505-454E-BC13-482524C20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617651-7F62-4663-9FA8-E32951CD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429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E973C7-576A-4EBA-A6B8-8356D8D1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DB594-0434-4770-B5CD-47382B60B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0FE65D-BC72-4133-B8FD-F2CEC7D99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DDCC6F-9151-45BF-9AC8-E56F083612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7C69-832B-493D-A1F5-06B01782B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59ACAC-1E46-4DC0-93AF-2BFFF527A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84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3" r:id="rId3"/>
    <p:sldLayoutId id="2147483661" r:id="rId4"/>
    <p:sldLayoutId id="2147483664" r:id="rId5"/>
    <p:sldLayoutId id="2147483666" r:id="rId6"/>
    <p:sldLayoutId id="2147483667" r:id="rId7"/>
    <p:sldLayoutId id="2147483650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23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D265396-D6A5-4E03-B4DF-ACA0FECB2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Weather24 — 절기, 아직 맞을까</a:t>
            </a:r>
            <a:endParaRPr lang="ko-KR" altLang="en-US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77D18B4-3BB8-416E-9C54-F3174EE5C2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팀 Weather24 (1인 팀)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15EE85F-2DED-4DDE-B24D-6321F38D82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https://weather-24solar-terms.vercel.app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EDDB9B2A-74DB-4588-A828-D5E52F5C5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신동준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17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E44EC2-EFEC-4FD7-B852-DC26E5339E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 </a:t>
            </a:r>
            <a:r>
              <a:rPr lang="ko-KR" altLang="en-US" dirty="0"/>
              <a:t>결과물 및 팀 기본 정보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2B8884-3C95-4B01-9701-49C80C6C5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647369"/>
              </p:ext>
            </p:extLst>
          </p:nvPr>
        </p:nvGraphicFramePr>
        <p:xfrm>
          <a:off x="695325" y="1834221"/>
          <a:ext cx="5912866" cy="447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285">
                  <a:extLst>
                    <a:ext uri="{9D8B030D-6E8A-4147-A177-3AD203B41FA5}">
                      <a16:colId xmlns:a16="http://schemas.microsoft.com/office/drawing/2014/main" val="586554776"/>
                    </a:ext>
                  </a:extLst>
                </a:gridCol>
                <a:gridCol w="4539581">
                  <a:extLst>
                    <a:ext uri="{9D8B030D-6E8A-4147-A177-3AD203B41FA5}">
                      <a16:colId xmlns:a16="http://schemas.microsoft.com/office/drawing/2014/main" val="969126144"/>
                    </a:ext>
                  </a:extLst>
                </a:gridCol>
              </a:tblGrid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팀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팀 Weather24 (1인 팀)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287245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프로젝트명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Weather24 — 절기, 아직 맞을까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726789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결과물 접속 </a:t>
                      </a:r>
                      <a:r>
                        <a:rPr lang="en-US" altLang="ko-KR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URL</a:t>
                      </a:r>
                      <a:endParaRPr lang="ko-KR" altLang="en-US" sz="1200" b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https://weather-24solar-terms.vercel.app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283240"/>
                  </a:ext>
                </a:extLst>
              </a:tr>
              <a:tr h="11186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한 줄 소개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중·고생이 ‘덥다’ 기준을 정해 24절기를 실측 검증하는 기후 학습 웹앱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0220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48080B-6C64-460A-B146-BE3F10BF41DA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결과물 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5F249-7C5F-41C6-B25B-769B40D71A76}"/>
              </a:ext>
            </a:extLst>
          </p:cNvPr>
          <p:cNvSpPr txBox="1"/>
          <p:nvPr/>
        </p:nvSpPr>
        <p:spPr>
          <a:xfrm>
            <a:off x="6931843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팀</a:t>
            </a:r>
            <a:r>
              <a:rPr lang="en-US" altLang="ko-KR" sz="1600" b="1" dirty="0">
                <a:solidFill>
                  <a:srgbClr val="243A5E"/>
                </a:solidFill>
              </a:rPr>
              <a:t>(</a:t>
            </a:r>
            <a:r>
              <a:rPr lang="ko-KR" altLang="en-US" sz="1600" b="1" dirty="0">
                <a:solidFill>
                  <a:srgbClr val="243A5E"/>
                </a:solidFill>
              </a:rPr>
              <a:t>원</a:t>
            </a:r>
            <a:r>
              <a:rPr lang="en-US" altLang="ko-KR" sz="1600" b="1" dirty="0">
                <a:solidFill>
                  <a:srgbClr val="243A5E"/>
                </a:solidFill>
              </a:rPr>
              <a:t>) </a:t>
            </a:r>
            <a:r>
              <a:rPr lang="ko-KR" altLang="en-US" sz="1600" b="1" dirty="0">
                <a:solidFill>
                  <a:srgbClr val="243A5E"/>
                </a:solidFill>
              </a:rPr>
              <a:t>기본 정보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8A93D-B596-453E-B7AD-10652D7A9AFA}"/>
              </a:ext>
            </a:extLst>
          </p:cNvPr>
          <p:cNvSpPr txBox="1"/>
          <p:nvPr/>
        </p:nvSpPr>
        <p:spPr>
          <a:xfrm>
            <a:off x="7145515" y="1726793"/>
            <a:ext cx="3714163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신동준 / 기획·개발·데이터·디자인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※ 1인 팀 — 단독 수행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34E886-5123-4BC2-B466-2D03FCDE9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Picture 7" descr="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246120"/>
            <a:ext cx="367150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6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학습 대상 분석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(1)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3B9B69-CD13-4ABA-89B7-714CC4BFB1BF}"/>
              </a:ext>
            </a:extLst>
          </p:cNvPr>
          <p:cNvSpPr/>
          <p:nvPr/>
        </p:nvSpPr>
        <p:spPr>
          <a:xfrm>
            <a:off x="763570" y="1801367"/>
            <a:ext cx="10664860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학습 대상 — 중3~고2 (중등 3학년 ~ 고등 2학년)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선정 근거 ① 2015·2022 개정 교육과정상 ‘기후변화와 지구환경’·‘자료 해석’ 성취기준 배치 학년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선정 근거 ② 임계값(기준온도) 개념과 평균·빈도 구분이 가능한 최소 학년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선정 근거 ③ 24절기를 생활 속에서 들어 본 세대이나 천문 기준임은 미학습 — 오개념 교정 여지 최대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난이도 적합성 근거 — 4단 조절 설계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수식 비노출 · 조작은 ‘기준선 끌기’ 하나로 시작 (첫 조작까지 클릭 2회)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용어 3단 계단 — 생활어(‘덥다’) → 조작어(기준) → 학술어(임계값·유효 열용량) 순 도입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심화는 선택 분기 — 열관성 실험실(에너지수지 모형)·전국 16지점·26개 비교 구간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읽기 부담 관리 — 화면 본문 한 문장 45자 이하, 한 화면 한 질문 원칙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교실 투입 형태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교사용 학습지 동시 제공 — 수업 흐름 · 활동지 · 오개념 표 8행 · 평가 루브릭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설치·로그인·결제 없음 · 크롬 단독 구동 · 모바일 대응(390px 검증)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미션 1 기준 16화면 · 진행 눈금 1/16~16/16 실시간 표시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11B287-3CD4-4307-84DA-D9AB62A182C9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대상과 난이도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2933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문제 정의 및 분석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(2) </a:t>
            </a:r>
            <a:r>
              <a:rPr lang="ko-KR" altLang="en-US" dirty="0"/>
              <a:t>주제 적합성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839DF-756A-4E6A-AD22-E947033D59E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다루는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개념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5AF997-4027-4587-9DE0-F2F8CAC57DE9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개발계획서 제시 기상·기후 개념 → 결과물 구현 대조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① 기후 평년값과 계절의 길이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→ 미션 2 ‘여름은 며칠일까’ · 화면 전역 ‘30년 기후평년 아님’ 고지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② 기온 상승과 극값·계절 이동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→ 미션 1 처서 · 미션 5 계절 지연 · 폭염/열대야 기준표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③ 24절기의 과학 (태양황경 15° 간격)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→ 24절기 궤도 화면 · 절기별 황경·지구–태양 거리 표시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④ 습도·강수 변화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→ 지표 3종(기온·강수·습도) · 미션 4 강수 빈도 대 강도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⑤ (확장) CO₂–기온 상관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→ ‘지구 맥락’ 화면 · 상관 제시, 인과 단정 회피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미해결 문제 정의 — 절기·날씨·기후 혼동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“처서가 더워졌다” = 절기(천문 날짜)에 기온을 귀속하는 오개념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기존 콘텐츠는 결론만 전달 → 학습자가 검증 경험 없음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961FE07-854A-44C9-B054-CD4DF9D05556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체험 중 주제 인식 근거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① 첫 화면이 곧 주제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표제 “24절기, 지금도 맞을까?”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부제 “움직이지 않는 절기와 움직이는 기후를 나란히”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② 매 화면 자료 범위 고지 (아래 실화면)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“기상청 ASOS 실측 · 과거 5년 vs 현재 5년 — 관측 신호이고 30년 기후평년 아님”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“절기는 태양 위치로 정한 천문 날짜라 해마다 거의 움직이지 않음”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③ 개념 렌즈 4문항 — 절기·날씨·기후 분류 통과 후 관측 진입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“처서가 지났는데도 어제 낮 기온 31°C” → 날씨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“처서를 9월로 옮겨야 한다” → 절기(오개념 판별 문항)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F865F0-8E23-45CF-A2AE-A46E3641491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중 주제 인식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pic>
        <p:nvPicPr>
          <p:cNvPr id="16" name="Picture 15" descr="chart-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880" y="4462272"/>
            <a:ext cx="4255932" cy="180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23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 아이디어 도출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(3) </a:t>
            </a:r>
            <a:r>
              <a:rPr lang="ko-KR" altLang="en-US" dirty="0"/>
              <a:t>아이디어 독창성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2C525-A8A5-4BC9-974B-CDB882122563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차별화 포인트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23CE83-9F51-4381-9B10-B4B02CB3D987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차별화 포인트 3중 결합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① 한국 고유 문화 기준선을 과학 검증 대상으로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24절기 = 학습자가 이미 아는 ‘약속’ → 반증 대상으로 전환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절기는 불변, 관측은 이동 — 두 축 분리가 학습 골격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② 정의(定義)를 학습자에게 이양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‘덥다’를 몇 도로 볼지 학습자가 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같은 자료로 다른 결론 도출 경험 → 기준 공개의 필요성 체득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③ 관측과 모형의 동시 제공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열관성 실험실 — 0차원 에너지수지 모형 직접 조작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필터 조작이 아니라 물리량(유효 열용량·온실효과) 조작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기존 서비스 대비 위치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PhET·En-ROADS — 모형만, 실측 대조 없음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기후 스트라이프·기상자료개방포털 — 실측만, 조작 학습 없음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Weather24 — 실측 + 모형 + 문화 기준선 동시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D71CAD-7DBD-4A18-9BBC-EF7E61C95575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새로운 학습 경험 — 예측 봉인 루프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① 예측 봉인 — 자료 비공개 상태로 내 생각 기록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② 직접 조작 — 기준선·지역·절기·지표 변경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③ 봉인 해제 — 예측 대 자료 대조, 어긋난 지점 명시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④ 내 결론(CERL) — 주장·근거·추론·한계 작성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⑤ 이해 확인 → 모범 예시 비교 → 다른 절기 적용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새로운 인터랙션 4종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기준선 ⇅ 손잡이 직접 끌기 — 0초 반응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질문 조립기 — 조건 변경 시 검증 가능한 질문 문장 자동 생성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실험실 예측-공개 — 예측 후에만 내 값으로 계산한 결과 개방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정직한 실패 상태 — 비교 불가 시 앱이 스스로 한계 선언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산출물 회수 구조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완료 화면 ‘내 기록’ — 예측·CERL 5편·이해 확인·전이 3문항·실험 값·자유탐구 질문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F333DD-0B00-4716-9907-EA19D8AE674F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새로운 학습 경험과 </a:t>
            </a:r>
            <a:r>
              <a:rPr lang="ko-KR" altLang="en-US" sz="1600" b="1" dirty="0" err="1">
                <a:solidFill>
                  <a:srgbClr val="243A5E"/>
                </a:solidFill>
              </a:rPr>
              <a:t>인터렉션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67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 체험∙참여형 설계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(4) </a:t>
            </a:r>
            <a:r>
              <a:rPr lang="ko-KR" altLang="en-US" dirty="0" err="1"/>
              <a:t>체험</a:t>
            </a:r>
            <a:r>
              <a:rPr lang="ko-KR" altLang="en-US" dirty="0" err="1"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dirty="0" err="1"/>
              <a:t>참여형</a:t>
            </a:r>
            <a:r>
              <a:rPr lang="ko-KR" altLang="en-US" dirty="0"/>
              <a:t> 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25F57-79A1-487A-9B9B-DB80AFF0BD3F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조작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선택과</a:t>
            </a:r>
            <a:r>
              <a:rPr lang="ko-KR" altLang="en-US" sz="1600" b="1" dirty="0">
                <a:solidFill>
                  <a:srgbClr val="243A5E"/>
                </a:solidFill>
              </a:rPr>
              <a:t> 학습 개념의 연계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2BA7C6-A9C7-45E9-8639-8B9BBAAF5193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조작 → 즉시 반응 (전 경로 실측 확인)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기준선 ⇅ 손잡이 끌기 / 슬라이더 / ＋− 단추 / ‘자주 쓰는 기준’ — 4경로 전부 작동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조작 즉시 재계산 — 더위일·마지막 초과일·지도·표 동시 갱신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조작 강제 게이트 — 조작 없이 진행 불가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기준선 미조작 시 판정 버튼 잠금 (state.moved 조건)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미션 2 — 25°C·28°C 두 기준 요구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미션 3 — 제주·강원 두 지역 요구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미션 4 — 1mm·30mm 이상 두 기준 요구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조작 결과 → 학습 개념 연결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기준 상향 → 일수 감소 → “모호한 말은 기준을 정해야 자료가 됨”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1mm 감소·50mm 증가 → “빈도와 강도는 다른 지표”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온실효과 상향 → 곡선 상승·지연 불변 → “지연과 온난화는 다른 원인”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E136B6-B59B-4080-96C2-2494E87C33ED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변수 탐구 범위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지역 16지점 × 절기 24 × 지표 3종 × 기준값 연속 × 비교 구간 26개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보기 3종 — 그래프 / 전국 지도 / 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직관성 확보 조치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조작부 전체에 화면 라벨 명시 — 지역·절기·지표·자주 쓰는 기준·비교 기간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결과 수치를 조작부 바로 위 고정 배치 — 시선 이동 최소화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스크린리더 — 슬라이더 값 변경 시 결과 수치까지 낭독(aria-valuetext)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A3589-B7F1-4D9D-BC79-DFC4623843F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체험 요소 </a:t>
            </a:r>
          </a:p>
        </p:txBody>
      </p:sp>
      <p:pic>
        <p:nvPicPr>
          <p:cNvPr id="19" name="Picture 18" descr="ma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074" y="3616452"/>
            <a:ext cx="2251544" cy="2653605"/>
          </a:xfrm>
          <a:prstGeom prst="rect">
            <a:avLst/>
          </a:prstGeom>
        </p:spPr>
      </p:pic>
      <p:pic>
        <p:nvPicPr>
          <p:cNvPr id="20" name="Picture 19" descr="lab-e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04" y="4631434"/>
            <a:ext cx="3686897" cy="163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1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5. 학습 성과와 학습적 피드백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(5) </a:t>
            </a:r>
            <a:r>
              <a:rPr lang="ko-KR" altLang="en-US" dirty="0"/>
              <a:t>학습 효과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D3FC62-F864-4C9F-A90B-09C29A7B196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>
                <a:solidFill>
                  <a:srgbClr val="243A5E"/>
                </a:solidFill>
              </a:rPr>
              <a:t>학습 성과와 피드백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474FD1-2FF0-4693-9C1C-96D50627453F}"/>
              </a:ext>
            </a:extLst>
          </p:cNvPr>
          <p:cNvSpPr/>
          <p:nvPr/>
        </p:nvSpPr>
        <p:spPr>
          <a:xfrm>
            <a:off x="763570" y="1801367"/>
            <a:ext cx="10664860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구체적 학습 성과 — 완료 시 회수되는 산출물 (교사 채점 근거)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봉인 예측 5건 · 개념 렌즈 4문항 정답률 · 이해 확인 5문항 정답률(1차/2차 구분)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내 결론(CERL) 5편 — 주장·근거·추론·한계 각 요소 작성 이력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전이 확인 3문항 — 학습하지 않은 상황에 적용 여부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열관성 실험실 — 학습자가 고른 물리량과 그때의 계절 지연 값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자유탐구 — 내가 만든 질문 + 내가 쓴 결론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잘못된 조작·선택에 대한 학습적 피드백 6종 (전부 배포본 실측)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① 이해 확인 1차 오답 → 정답 비공개 + 자료로 되돌리는 힌트 제시 (전 문항 retryHint)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② 예측 불일치 → “내 예측 vs 자료” 대조 후 “어긋난 지점이 배울 곳” 명시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③ 실험실 예측 오답 → 예측 방향과 모형 결과 병기 공개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④ 근거에 단위 누락 → “그 숫자가 무엇을 센 값인지 단위나 기간을 함께” 차단 안내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⑤ 한계에 범위어 누락 → “어디까지 통하는지” 차단 안내 (지역·기간·기준·원인)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⑥ 기준 극단 조작 → 조작 화면에서 즉시 “비교할 것이 남지 않음 · 기준선 하향” 안내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우회 차단 — 정답 고지형 회피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문장 중복 검사 — 같은 글 복사 차단 · 화면 안내문 베끼기 차단</a:t>
            </a: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오개념 검출 — 학생 문장의 범위 확대·인과 단정을 필수 경로에서 점검</a:t>
            </a:r>
          </a:p>
        </p:txBody>
      </p:sp>
    </p:spTree>
    <p:extLst>
      <p:ext uri="{BB962C8B-B14F-4D97-AF65-F5344CB8AC3E}">
        <p14:creationId xmlns:p14="http://schemas.microsoft.com/office/powerpoint/2010/main" val="110983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179291-E4DC-4BE1-82E1-1C5D02C62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6. 구현 완성도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6C86F0-A45F-47B7-9C80-8F6D9D69E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59ACAC-1E46-4DC0-93AF-2BFFF527AE1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3EC9E58-8100-4FC8-9186-E69D31D8F4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(6) </a:t>
            </a:r>
            <a:r>
              <a:rPr lang="ko-KR" altLang="en-US" dirty="0"/>
              <a:t>구현 완성도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0A4DB-E749-40E5-B9EC-0145A3C7CE55}"/>
              </a:ext>
            </a:extLst>
          </p:cNvPr>
          <p:cNvSpPr txBox="1"/>
          <p:nvPr/>
        </p:nvSpPr>
        <p:spPr>
          <a:xfrm>
            <a:off x="763570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기상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기후</a:t>
            </a:r>
            <a:r>
              <a:rPr lang="ko-KR" altLang="en-US" sz="1600" b="1" dirty="0">
                <a:solidFill>
                  <a:srgbClr val="243A5E"/>
                </a:solidFill>
              </a:rPr>
              <a:t> 데이터 반영</a:t>
            </a:r>
            <a:r>
              <a:rPr lang="ko-KR" altLang="en-US" sz="1600" dirty="0">
                <a:solidFill>
                  <a:srgbClr val="F3ECDC"/>
                </a:solidFill>
              </a:rPr>
              <a:t>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8453AF5-E513-4059-9547-7CB11C205D7D}"/>
              </a:ext>
            </a:extLst>
          </p:cNvPr>
          <p:cNvSpPr/>
          <p:nvPr/>
        </p:nvSpPr>
        <p:spPr>
          <a:xfrm>
            <a:off x="763570" y="1801367"/>
            <a:ext cx="5125166" cy="4596705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사용 기상·기후 데이터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기상청 ASOS 종관기상관측 일자료 — 1969~2026 · 16지점 · 3지표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파생 집계 — 기준 초과 일수 / 마지막 초과일 / 절기 무렵 15일 평균 / 26개 이동 구간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기상청 공식 기준표 — 폭염·열대야·결빙일 (기간 상이 명시)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NOAA·OWID — CO₂ 농도와 전지구 기온 (출처·라이선스 표기)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실제 반영·작동 근거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조작 시 즉시 재계산 — 사전 계산 이미지 아님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자동 회귀 검증 8,360건 통과 (데이터 8,213 + 문서 147)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과학 수치 검산 — 태양년 365.24일 · 삭망월 354.37일 · 근일점 0.983 AU · 태양상수 1361 W/m²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구동 안정성 (배포본 실측)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1366×768 / 390×844 / 1920×1080 — 11화면 겹침·잘림·넘침·콘솔 오류 0건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외부 도메인 0 · 첫 로드 134KB · 로그인·결제 없음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배포본 = 제출 소스 해시 일치 검증 자동화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8FA0BB-8FD3-432D-8721-19EAAD195D1E}"/>
              </a:ext>
            </a:extLst>
          </p:cNvPr>
          <p:cNvSpPr/>
          <p:nvPr/>
        </p:nvSpPr>
        <p:spPr>
          <a:xfrm>
            <a:off x="6303264" y="1801368"/>
            <a:ext cx="5125166" cy="4596706"/>
          </a:xfrm>
          <a:prstGeom prst="rect">
            <a:avLst/>
          </a:prstGeom>
          <a:solidFill>
            <a:srgbClr val="EFF5F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제품 안의 AI — 증거 감사관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학습자 결론을 과장·범위·인과 3축으로 점검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실측 응답 예 — “서울 자료만으로 우리나라 전체를 말할 수 없고, ‘기후변화 때문에’라는 원인도 단정할 수 없음”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구조화 출력 강제 · 외부 전송 동의 후에만 요청 · 실패 시 기기 내 규칙 점검으로 폴백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제작 과정의 AI — Claude Code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데이터 수집·가공 → 화면 구현 → 카피 정비 전 과정 AI 페어 작업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AI 레드팀 6회 — 자기 결과물을 교육효과·과학무결성·완성도·심사기준·카피·UI 축으로 반증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AI 품질 평가 세트 100문항 — 허위 수치·결론 대필·인과 과장 0건 (100/100 통과)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프롬프트 세션 원문 6건 제출 — 비밀값·이메일·로컬 경로 마스킹 처리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/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■ 재발 방지 자동화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제출 게이트 — 배포본·소스 해시 대조 · 비밀값 스캔 · 문서 정합성 · 캐시 버스팅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None/>
            </a:pPr>
            <a:r>
              <a:rPr lang="ko-KR" altLang="en-US" sz="1200" dirty="0">
                <a:solidFill>
                  <a:schemeClr val="tx1"/>
                </a:solidFill>
              </a:rPr>
              <a:t>  · 게이트 자기검증 — 위반 문자열을 실제로 잡는지 확인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E0E4E2-2FB2-49BF-8D48-DF916F2E6444}"/>
              </a:ext>
            </a:extLst>
          </p:cNvPr>
          <p:cNvSpPr txBox="1"/>
          <p:nvPr/>
        </p:nvSpPr>
        <p:spPr>
          <a:xfrm>
            <a:off x="6303264" y="1357461"/>
            <a:ext cx="4034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43A5E"/>
                </a:solidFill>
              </a:rPr>
              <a:t>●</a:t>
            </a:r>
            <a:r>
              <a:rPr lang="ko-KR" altLang="en-US" dirty="0">
                <a:solidFill>
                  <a:srgbClr val="F3ECDC"/>
                </a:solidFill>
              </a:rPr>
              <a:t>● </a:t>
            </a:r>
            <a:r>
              <a:rPr lang="en-US" altLang="ko-KR" sz="1600" b="1" dirty="0">
                <a:solidFill>
                  <a:srgbClr val="243A5E"/>
                </a:solidFill>
              </a:rPr>
              <a:t>AI</a:t>
            </a:r>
            <a:r>
              <a:rPr lang="ko-KR" altLang="en-US" sz="1600" b="1" dirty="0">
                <a:solidFill>
                  <a:srgbClr val="243A5E"/>
                </a:solidFill>
              </a:rPr>
              <a:t> </a:t>
            </a:r>
            <a:r>
              <a:rPr lang="ko-KR" altLang="en-US" sz="1600" b="1" dirty="0" err="1">
                <a:solidFill>
                  <a:srgbClr val="243A5E"/>
                </a:solidFill>
              </a:rPr>
              <a:t>도구</a:t>
            </a:r>
            <a:r>
              <a:rPr lang="ko-KR" altLang="en-US" sz="1600" b="1" dirty="0" err="1">
                <a:solidFill>
                  <a:srgbClr val="243A5E"/>
                </a:solidFill>
                <a:latin typeface="페이퍼로지 8 ExtraBold" pitchFamily="2" charset="-127"/>
                <a:ea typeface="페이퍼로지 8 ExtraBold" pitchFamily="2" charset="-127"/>
              </a:rPr>
              <a:t>∙</a:t>
            </a:r>
            <a:r>
              <a:rPr lang="ko-KR" altLang="en-US" sz="1600" b="1" dirty="0" err="1">
                <a:solidFill>
                  <a:srgbClr val="243A5E"/>
                </a:solidFill>
              </a:rPr>
              <a:t>기술</a:t>
            </a:r>
            <a:r>
              <a:rPr lang="ko-KR" altLang="en-US" sz="1600" b="1" dirty="0">
                <a:solidFill>
                  <a:srgbClr val="243A5E"/>
                </a:solidFill>
              </a:rPr>
              <a:t> 활용</a:t>
            </a:r>
            <a:endParaRPr lang="ko-KR" altLang="en-US" sz="1600" dirty="0">
              <a:solidFill>
                <a:srgbClr val="F3ECDC"/>
              </a:solidFill>
            </a:endParaRPr>
          </a:p>
        </p:txBody>
      </p:sp>
      <p:pic>
        <p:nvPicPr>
          <p:cNvPr id="16" name="Picture 15" descr="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86" y="5138927"/>
            <a:ext cx="4869133" cy="92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68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207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</TotalTime>
  <Words>807</Words>
  <Application>Microsoft Office PowerPoint</Application>
  <PresentationFormat>와이드스크린</PresentationFormat>
  <Paragraphs>127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페이퍼로지 8 ExtraBold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38</cp:revision>
  <cp:lastPrinted>2026-07-31T07:23:24Z</cp:lastPrinted>
  <dcterms:created xsi:type="dcterms:W3CDTF">2026-07-24T07:24:55Z</dcterms:created>
  <dcterms:modified xsi:type="dcterms:W3CDTF">2026-07-31T08:51:00Z</dcterms:modified>
</cp:coreProperties>
</file>