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74" r:id="rId3"/>
    <p:sldId id="287" r:id="rId4"/>
    <p:sldId id="275" r:id="rId5"/>
    <p:sldId id="261" r:id="rId6"/>
    <p:sldId id="260" r:id="rId7"/>
    <p:sldId id="282" r:id="rId8"/>
    <p:sldId id="283" r:id="rId9"/>
    <p:sldId id="284" r:id="rId10"/>
    <p:sldId id="285" r:id="rId11"/>
    <p:sldId id="286" r:id="rId12"/>
    <p:sldId id="270" r:id="rId13"/>
    <p:sldId id="268" r:id="rId14"/>
  </p:sldIdLst>
  <p:sldSz cx="12192000" cy="6858000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A5E"/>
    <a:srgbClr val="F3ECDC"/>
    <a:srgbClr val="E76F51"/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B0704-418A-42A8-B767-71FC43B0918A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E997E-8190-4D82-86DC-FE0D784C8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852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31AEB8F-97AB-4D52-9978-85C6494D41E0}"/>
              </a:ext>
            </a:extLst>
          </p:cNvPr>
          <p:cNvSpPr txBox="1"/>
          <p:nvPr userDrawn="1"/>
        </p:nvSpPr>
        <p:spPr>
          <a:xfrm>
            <a:off x="1354157" y="1653313"/>
            <a:ext cx="9483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 err="1">
                <a:solidFill>
                  <a:schemeClr val="bg1"/>
                </a:solidFill>
                <a:latin typeface="+mj-ea"/>
                <a:ea typeface="+mj-ea"/>
              </a:rPr>
              <a:t>기상</a:t>
            </a:r>
            <a:r>
              <a:rPr lang="ko-KR" altLang="en-US" sz="5400" b="1" dirty="0" err="1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5400" b="1" dirty="0" err="1">
                <a:solidFill>
                  <a:schemeClr val="bg1"/>
                </a:solidFill>
                <a:latin typeface="+mj-ea"/>
                <a:ea typeface="+mj-ea"/>
              </a:rPr>
              <a:t>기후</a:t>
            </a:r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5400" b="1" dirty="0">
                <a:solidFill>
                  <a:schemeClr val="bg1"/>
                </a:solidFill>
                <a:latin typeface="+mj-ea"/>
                <a:ea typeface="+mj-ea"/>
              </a:rPr>
              <a:t>AI </a:t>
            </a:r>
            <a:r>
              <a:rPr lang="ko-KR" altLang="en-US" sz="5400" b="1" dirty="0" err="1">
                <a:solidFill>
                  <a:schemeClr val="bg1"/>
                </a:solidFill>
                <a:latin typeface="+mj-ea"/>
                <a:ea typeface="+mj-ea"/>
              </a:rPr>
              <a:t>해커톤</a:t>
            </a:r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 경진대회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C5123A-5876-4A69-91B8-D4D5182FF61C}"/>
              </a:ext>
            </a:extLst>
          </p:cNvPr>
          <p:cNvSpPr txBox="1"/>
          <p:nvPr userDrawn="1"/>
        </p:nvSpPr>
        <p:spPr>
          <a:xfrm>
            <a:off x="1517801" y="3501204"/>
            <a:ext cx="16257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>
                <a:solidFill>
                  <a:srgbClr val="F3ECDC"/>
                </a:solidFill>
                <a:latin typeface="+mj-ea"/>
                <a:ea typeface="+mj-ea"/>
              </a:rPr>
              <a:t>프로젝트명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BC3B1A-711B-4C9C-A54E-C1F461C74791}"/>
              </a:ext>
            </a:extLst>
          </p:cNvPr>
          <p:cNvSpPr txBox="1"/>
          <p:nvPr userDrawn="1"/>
        </p:nvSpPr>
        <p:spPr>
          <a:xfrm>
            <a:off x="1517801" y="4122113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 err="1">
                <a:solidFill>
                  <a:srgbClr val="F3ECDC"/>
                </a:solidFill>
                <a:latin typeface="+mj-ea"/>
                <a:ea typeface="+mj-ea"/>
              </a:rPr>
              <a:t>팀명</a:t>
            </a:r>
            <a:endParaRPr lang="ko-KR" altLang="en-US" sz="2000" b="0" dirty="0">
              <a:solidFill>
                <a:srgbClr val="F3ECDC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0C9A37-82F9-48F4-B02D-008F91CCD2E3}"/>
              </a:ext>
            </a:extLst>
          </p:cNvPr>
          <p:cNvSpPr txBox="1"/>
          <p:nvPr userDrawn="1"/>
        </p:nvSpPr>
        <p:spPr>
          <a:xfrm>
            <a:off x="1517801" y="4743022"/>
            <a:ext cx="1662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>
                <a:solidFill>
                  <a:srgbClr val="F3ECDC"/>
                </a:solidFill>
                <a:latin typeface="+mj-ea"/>
                <a:ea typeface="+mj-ea"/>
              </a:rPr>
              <a:t>결과물 </a:t>
            </a:r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URL</a:t>
            </a:r>
            <a:endParaRPr lang="ko-KR" altLang="en-US" sz="2000" b="0" dirty="0">
              <a:solidFill>
                <a:srgbClr val="F3ECDC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95C146-79C6-43F2-B429-1E96AF12F936}"/>
              </a:ext>
            </a:extLst>
          </p:cNvPr>
          <p:cNvSpPr txBox="1"/>
          <p:nvPr userDrawn="1"/>
        </p:nvSpPr>
        <p:spPr>
          <a:xfrm>
            <a:off x="1517801" y="5363930"/>
            <a:ext cx="1112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>
                <a:solidFill>
                  <a:srgbClr val="F3ECDC"/>
                </a:solidFill>
                <a:latin typeface="+mj-ea"/>
                <a:ea typeface="+mj-ea"/>
              </a:rPr>
              <a:t>발표자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C7A9BE40-1B9A-44EC-815C-CDB3DDB49A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6323" y="3515502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D700112A-8E80-4A44-8018-E7FBCDB209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96323" y="4136411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텍스트 개체 틀 14">
            <a:extLst>
              <a:ext uri="{FF2B5EF4-FFF2-40B4-BE49-F238E27FC236}">
                <a16:creationId xmlns:a16="http://schemas.microsoft.com/office/drawing/2014/main" id="{ADEC1D49-B4EB-4025-8B2B-0F584C025A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96323" y="4763583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 및 표지 필수 기재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텍스트 개체 틀 14">
            <a:extLst>
              <a:ext uri="{FF2B5EF4-FFF2-40B4-BE49-F238E27FC236}">
                <a16:creationId xmlns:a16="http://schemas.microsoft.com/office/drawing/2014/main" id="{09F741B2-080E-47F6-BE11-888EAA85F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323" y="5378228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0C8CF79-29FC-4E04-B206-41380B6F8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937" y="6053676"/>
            <a:ext cx="2374126" cy="569790"/>
          </a:xfrm>
          <a:prstGeom prst="rect">
            <a:avLst/>
          </a:prstGeom>
        </p:spPr>
      </p:pic>
      <p:sp>
        <p:nvSpPr>
          <p:cNvPr id="23" name="순서도: 데이터 22">
            <a:extLst>
              <a:ext uri="{FF2B5EF4-FFF2-40B4-BE49-F238E27FC236}">
                <a16:creationId xmlns:a16="http://schemas.microsoft.com/office/drawing/2014/main" id="{97E97659-1623-40B7-BB80-CFF3954A80C2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데이터 23">
            <a:extLst>
              <a:ext uri="{FF2B5EF4-FFF2-40B4-BE49-F238E27FC236}">
                <a16:creationId xmlns:a16="http://schemas.microsoft.com/office/drawing/2014/main" id="{6B409B54-59B6-4512-9C77-FCEE38C684D4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23030E-3450-4E6E-981D-F738A0B4A794}"/>
              </a:ext>
            </a:extLst>
          </p:cNvPr>
          <p:cNvSpPr/>
          <p:nvPr userDrawn="1"/>
        </p:nvSpPr>
        <p:spPr>
          <a:xfrm>
            <a:off x="1517800" y="2606369"/>
            <a:ext cx="91564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161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7242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orient="horz" pos="2160" userDrawn="1">
          <p15:clr>
            <a:srgbClr val="FBAE40"/>
          </p15:clr>
        </p15:guide>
        <p15:guide id="7" pos="211" userDrawn="1">
          <p15:clr>
            <a:srgbClr val="FBAE40"/>
          </p15:clr>
        </p15:guide>
        <p15:guide id="8" pos="7469" userDrawn="1">
          <p15:clr>
            <a:srgbClr val="FBAE40"/>
          </p15:clr>
        </p15:guide>
        <p15:guide id="9" orient="horz" pos="41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C0C8CF79-29FC-4E04-B206-41380B6F8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937" y="6053676"/>
            <a:ext cx="2374126" cy="569790"/>
          </a:xfrm>
          <a:prstGeom prst="rect">
            <a:avLst/>
          </a:prstGeom>
        </p:spPr>
      </p:pic>
      <p:sp>
        <p:nvSpPr>
          <p:cNvPr id="23" name="순서도: 데이터 22">
            <a:extLst>
              <a:ext uri="{FF2B5EF4-FFF2-40B4-BE49-F238E27FC236}">
                <a16:creationId xmlns:a16="http://schemas.microsoft.com/office/drawing/2014/main" id="{97E97659-1623-40B7-BB80-CFF3954A80C2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데이터 23">
            <a:extLst>
              <a:ext uri="{FF2B5EF4-FFF2-40B4-BE49-F238E27FC236}">
                <a16:creationId xmlns:a16="http://schemas.microsoft.com/office/drawing/2014/main" id="{6B409B54-59B6-4512-9C77-FCEE38C684D4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71D16D-A60E-436E-8DFD-19757DBA4EB5}"/>
              </a:ext>
            </a:extLst>
          </p:cNvPr>
          <p:cNvSpPr txBox="1"/>
          <p:nvPr userDrawn="1"/>
        </p:nvSpPr>
        <p:spPr>
          <a:xfrm>
            <a:off x="4272424" y="2505670"/>
            <a:ext cx="36471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감사합니다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A8B0727-89E1-4E63-A27D-0AD368A2F4CB}"/>
              </a:ext>
            </a:extLst>
          </p:cNvPr>
          <p:cNvSpPr/>
          <p:nvPr userDrawn="1"/>
        </p:nvSpPr>
        <p:spPr>
          <a:xfrm>
            <a:off x="4198070" y="3458726"/>
            <a:ext cx="379586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C76A7-A708-47A5-B184-A260C6B97D1B}"/>
              </a:ext>
            </a:extLst>
          </p:cNvPr>
          <p:cNvSpPr txBox="1"/>
          <p:nvPr userDrawn="1"/>
        </p:nvSpPr>
        <p:spPr>
          <a:xfrm>
            <a:off x="4875153" y="3896636"/>
            <a:ext cx="24416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b="0" dirty="0">
                <a:solidFill>
                  <a:srgbClr val="F3ECDC"/>
                </a:solidFill>
                <a:latin typeface="+mj-ea"/>
                <a:ea typeface="+mj-ea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4090112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  <p15:guide id="9" orient="horz" pos="41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팀 및 결과물 기본 정보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98DDD3F-FB3F-4F18-839F-C29BDCC32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921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6DDB0E97-6316-4A0C-B265-BD114253F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14">
            <a:extLst>
              <a:ext uri="{FF2B5EF4-FFF2-40B4-BE49-F238E27FC236}">
                <a16:creationId xmlns:a16="http://schemas.microsoft.com/office/drawing/2014/main" id="{11FE98CB-41F7-4DD0-8F02-1B92269A99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4" y="233162"/>
            <a:ext cx="6544461" cy="3161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1600" b="1">
                <a:solidFill>
                  <a:srgbClr val="E76F5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</p:spTree>
    <p:extLst>
      <p:ext uri="{BB962C8B-B14F-4D97-AF65-F5344CB8AC3E}">
        <p14:creationId xmlns:p14="http://schemas.microsoft.com/office/powerpoint/2010/main" val="274993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AE4AA64-0452-4EC4-AA5F-1BE587C4F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14">
            <a:extLst>
              <a:ext uri="{FF2B5EF4-FFF2-40B4-BE49-F238E27FC236}">
                <a16:creationId xmlns:a16="http://schemas.microsoft.com/office/drawing/2014/main" id="{7FE64648-02D4-45B0-8606-7020E78DD6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4" y="233162"/>
            <a:ext cx="6544461" cy="3161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1600" b="1">
                <a:solidFill>
                  <a:srgbClr val="E76F5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</p:spTree>
    <p:extLst>
      <p:ext uri="{BB962C8B-B14F-4D97-AF65-F5344CB8AC3E}">
        <p14:creationId xmlns:p14="http://schemas.microsoft.com/office/powerpoint/2010/main" val="298927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387E9C-A654-4F17-8BEE-06563E6786FF}"/>
              </a:ext>
            </a:extLst>
          </p:cNvPr>
          <p:cNvSpPr txBox="1"/>
          <p:nvPr userDrawn="1"/>
        </p:nvSpPr>
        <p:spPr>
          <a:xfrm>
            <a:off x="1811517" y="6196387"/>
            <a:ext cx="8568967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600" dirty="0">
                <a:solidFill>
                  <a:srgbClr val="FF0000"/>
                </a:solidFill>
              </a:rPr>
              <a:t>해당 슬라이드는 발표자료 제출 시 삭제 후 제출 바랍니다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57895F8A-EC22-44D0-8B1B-87A20C892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683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67970-E004-4559-8E24-E6B3B8906483}"/>
              </a:ext>
            </a:extLst>
          </p:cNvPr>
          <p:cNvSpPr txBox="1"/>
          <p:nvPr userDrawn="1"/>
        </p:nvSpPr>
        <p:spPr>
          <a:xfrm>
            <a:off x="695325" y="667376"/>
            <a:ext cx="3486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 b="1" dirty="0">
                <a:solidFill>
                  <a:srgbClr val="243A5E"/>
                </a:solidFill>
                <a:latin typeface="+mj-ea"/>
                <a:ea typeface="+mj-ea"/>
              </a:rPr>
              <a:t>I </a:t>
            </a:r>
            <a:r>
              <a:rPr lang="ko-KR" altLang="en-US" sz="2400" b="1" dirty="0">
                <a:solidFill>
                  <a:srgbClr val="243A5E"/>
                </a:solidFill>
                <a:latin typeface="+mj-ea"/>
                <a:ea typeface="+mj-ea"/>
              </a:rPr>
              <a:t>발표 자료 가이드 라인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77ACDA-41BD-4F81-B47D-36F3F0EED278}"/>
              </a:ext>
            </a:extLst>
          </p:cNvPr>
          <p:cNvSpPr txBox="1"/>
          <p:nvPr userDrawn="1"/>
        </p:nvSpPr>
        <p:spPr>
          <a:xfrm>
            <a:off x="1811517" y="6196387"/>
            <a:ext cx="8568967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600" dirty="0">
                <a:solidFill>
                  <a:srgbClr val="FF0000"/>
                </a:solidFill>
              </a:rPr>
              <a:t>해당 슬라이드는 발표자료 제출 시 삭제 후 제출 바랍니다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42C6C439-B5BD-4294-9193-AAA46B502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059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7721D-3748-4F22-935E-59022A26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3BD5AD-BBA7-4B77-A43A-29AF35656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F61F4A-886A-4754-899D-7B35E937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775C46-0311-4688-9CA5-7847BCE3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659C4D-CFC2-4C3C-8DB8-5710BEED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97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EF282-9284-40F9-9DEB-E1E9D1CBB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1ED96F-33B4-4E8C-A426-2BCA46C7B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121BD3-8D5D-41EE-AC33-C61BFA27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82456C-F7A3-412C-BCEC-A32CC4AB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F49CB-E06A-4D36-B52E-BF4A2CFF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29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94528-83D7-46FD-9AC8-665694F2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505D25-A6A4-48F0-A862-ECF2E7BC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712EE4-53D5-45EA-BED3-FD991C916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01DDFE-134E-42D1-BB98-29F8F114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F9AB72-1B66-44A1-9805-44A7C856B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2D2497-C25D-470D-92CA-C039E878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20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A2287-3A24-4A9B-A25C-531CC264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6FB798-5B87-4DD3-94D6-BEFC388CD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2DFEC1-F453-4A2E-A832-DEED2000E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371965-04E9-436F-B256-D1401C653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1F59A6-D04C-4F7E-9946-599FA5E87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5017B9-CCA4-42F7-B39F-FFF2CE73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8B15B95-5DD7-4399-8EBC-FA0DA6498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93FF6A-3BA0-4773-8398-722E07C3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050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70173-A86C-487C-A787-FF29ACA93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5E747-9B22-41B0-8718-C277D12D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540313-FB3C-4C0E-80BC-E8B653647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9761E5-6E32-4B78-8E21-9398D728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38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504F72-5EE4-42BC-A125-51B4FF18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580218-30C8-4F48-B7E0-09D1497E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77B4D-3229-48D0-A626-3703A0C2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342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E0F5B-8895-426F-B5C5-52CFB3F8D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786C6F-BE04-4F13-BEC6-E0EAEDCE1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AE29C7-041E-4A84-AE5D-269ACD808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6DDF39-D622-4A00-9F7B-0CCAA6C34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AC52D2-2DE1-476F-8614-DA7D54B0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E2CC28-BBA0-4F98-856B-30A1FE5C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783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1DCCD-97CD-48C5-9C72-A9CDB50A9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355B30-69BD-4F2B-9EF6-B2B1A38EC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439DBE-EC05-4A3C-AB44-24C354CEB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6C58D7-4282-4696-9A7D-B3EC9338F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ACE517-5683-4E62-90F7-4669A241F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61E488-DDB4-4992-B7BB-3862EA94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967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70F54-4970-4D4D-951B-C8E2B9D08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152613-2EE1-492C-B78C-E20142F2A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32238-F504-4187-9E88-D5398C29E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D3F913-FBC0-425B-B90D-A6B047850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7FB53F-D184-4BEE-B37A-04B8B52C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786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EB6B8F-8EC3-45A6-942F-CAAEE7E76B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F1181A-43D6-4990-AF25-41F9E5EBD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8DB4D7-5165-4439-B29F-2DDD7DCF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0A07BB-E505-454E-BC13-482524C2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617651-7F62-4663-9FA8-E32951CD5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42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E973C7-576A-4EBA-A6B8-8356D8D1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EDB594-0434-4770-B5CD-47382B60B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0FE65D-BC72-4133-B8FD-F2CEC7D99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DDCC6F-9151-45BF-9AC8-E56F083612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07C69-832B-493D-A1F5-06B01782B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84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3" r:id="rId3"/>
    <p:sldLayoutId id="2147483661" r:id="rId4"/>
    <p:sldLayoutId id="2147483664" r:id="rId5"/>
    <p:sldLayoutId id="2147483666" r:id="rId6"/>
    <p:sldLayoutId id="2147483667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23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D265396-D6A5-4E03-B4DF-ACA0FECB2E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77D18B4-3BB8-416E-9C54-F3174EE5C2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715EE85F-2DED-4DDE-B24D-6321F38D82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EDDB9B2A-74DB-4588-A828-D5E52F5C53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17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8D2801-81CA-4DE2-A1A6-54E35269E51C}"/>
              </a:ext>
            </a:extLst>
          </p:cNvPr>
          <p:cNvSpPr txBox="1"/>
          <p:nvPr/>
        </p:nvSpPr>
        <p:spPr>
          <a:xfrm>
            <a:off x="923825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발표 자료 가이드 라인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0C843A-E3BC-478D-AC39-AD930AD222AD}"/>
              </a:ext>
            </a:extLst>
          </p:cNvPr>
          <p:cNvSpPr txBox="1"/>
          <p:nvPr/>
        </p:nvSpPr>
        <p:spPr>
          <a:xfrm>
            <a:off x="1093507" y="1726793"/>
            <a:ext cx="10174668" cy="349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243A5E"/>
                </a:solidFill>
              </a:rPr>
              <a:t>아래는 발표 </a:t>
            </a:r>
            <a:r>
              <a:rPr lang="en-US" altLang="ko-KR" sz="1600" b="1" dirty="0">
                <a:solidFill>
                  <a:srgbClr val="243A5E"/>
                </a:solidFill>
              </a:rPr>
              <a:t>PPT </a:t>
            </a:r>
            <a:r>
              <a:rPr lang="ko-KR" altLang="en-US" sz="1600" b="1" dirty="0">
                <a:solidFill>
                  <a:srgbClr val="243A5E"/>
                </a:solidFill>
              </a:rPr>
              <a:t>슬라이드별 평가 항목으로 반드시 내용에 포함해야 하며 디자인 및 장수는 자유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입니다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b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altLang="ko-KR" sz="1600" dirty="0">
                <a:solidFill>
                  <a:srgbClr val="FF0000"/>
                </a:solidFill>
              </a:rPr>
              <a:t>(1) </a:t>
            </a:r>
            <a:r>
              <a:rPr lang="ko-KR" altLang="en-US" sz="1600" dirty="0">
                <a:solidFill>
                  <a:srgbClr val="FF0000"/>
                </a:solidFill>
              </a:rPr>
              <a:t>학습 효과</a:t>
            </a:r>
            <a:br>
              <a:rPr lang="en-US" altLang="ko-KR" sz="1600" dirty="0">
                <a:solidFill>
                  <a:srgbClr val="FF0000"/>
                </a:solidFill>
              </a:rPr>
            </a:br>
            <a:r>
              <a:rPr lang="en-US" altLang="ko-KR" sz="1600" dirty="0">
                <a:solidFill>
                  <a:srgbClr val="FF0000"/>
                </a:solidFill>
              </a:rPr>
              <a:t>(2) </a:t>
            </a:r>
            <a:r>
              <a:rPr lang="ko-KR" altLang="en-US" sz="1600" dirty="0">
                <a:solidFill>
                  <a:srgbClr val="FF0000"/>
                </a:solidFill>
              </a:rPr>
              <a:t>주제 적합성</a:t>
            </a:r>
            <a:br>
              <a:rPr lang="en-US" altLang="ko-KR" sz="1600" dirty="0">
                <a:solidFill>
                  <a:srgbClr val="FF0000"/>
                </a:solidFill>
              </a:rPr>
            </a:br>
            <a:r>
              <a:rPr lang="en-US" altLang="ko-KR" sz="1600" dirty="0">
                <a:solidFill>
                  <a:srgbClr val="FF0000"/>
                </a:solidFill>
              </a:rPr>
              <a:t>(3) </a:t>
            </a:r>
            <a:r>
              <a:rPr lang="ko-KR" altLang="en-US" sz="1600" dirty="0">
                <a:solidFill>
                  <a:srgbClr val="FF0000"/>
                </a:solidFill>
              </a:rPr>
              <a:t>아이디어 독창성</a:t>
            </a:r>
            <a:br>
              <a:rPr lang="en-US" altLang="ko-KR" sz="1600" dirty="0">
                <a:solidFill>
                  <a:srgbClr val="FF0000"/>
                </a:solidFill>
              </a:rPr>
            </a:br>
            <a:r>
              <a:rPr lang="en-US" altLang="ko-KR" sz="1600" dirty="0">
                <a:solidFill>
                  <a:srgbClr val="FF0000"/>
                </a:solidFill>
              </a:rPr>
              <a:t>(4) </a:t>
            </a:r>
            <a:r>
              <a:rPr lang="ko-KR" altLang="en-US" sz="1600" dirty="0" err="1">
                <a:solidFill>
                  <a:srgbClr val="FF0000"/>
                </a:solidFill>
              </a:rPr>
              <a:t>체험∙참여형</a:t>
            </a:r>
            <a:r>
              <a:rPr lang="ko-KR" altLang="en-US" sz="1600" dirty="0">
                <a:solidFill>
                  <a:srgbClr val="FF0000"/>
                </a:solidFill>
              </a:rPr>
              <a:t> 설계</a:t>
            </a:r>
            <a:br>
              <a:rPr lang="en-US" altLang="ko-KR" sz="1600" dirty="0">
                <a:solidFill>
                  <a:srgbClr val="FF0000"/>
                </a:solidFill>
              </a:rPr>
            </a:br>
            <a:r>
              <a:rPr lang="en-US" altLang="ko-KR" sz="1600" dirty="0">
                <a:solidFill>
                  <a:srgbClr val="FF0000"/>
                </a:solidFill>
              </a:rPr>
              <a:t>(5) </a:t>
            </a:r>
            <a:r>
              <a:rPr lang="ko-KR" altLang="en-US" sz="1600" dirty="0">
                <a:solidFill>
                  <a:srgbClr val="FF0000"/>
                </a:solidFill>
              </a:rPr>
              <a:t>학습 효과</a:t>
            </a:r>
            <a:br>
              <a:rPr lang="en-US" altLang="ko-KR" sz="1600" dirty="0">
                <a:solidFill>
                  <a:srgbClr val="FF0000"/>
                </a:solidFill>
              </a:rPr>
            </a:br>
            <a:r>
              <a:rPr lang="en-US" altLang="ko-KR" sz="1600" dirty="0">
                <a:solidFill>
                  <a:srgbClr val="FF0000"/>
                </a:solidFill>
              </a:rPr>
              <a:t>(6) </a:t>
            </a:r>
            <a:r>
              <a:rPr lang="ko-KR" altLang="en-US" sz="1600" dirty="0">
                <a:solidFill>
                  <a:srgbClr val="FF0000"/>
                </a:solidFill>
              </a:rPr>
              <a:t>구현 완성도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발표</a:t>
            </a:r>
            <a:r>
              <a:rPr lang="en-US" altLang="ko-KR" sz="1600" dirty="0"/>
              <a:t> </a:t>
            </a:r>
            <a:r>
              <a:rPr lang="ko-KR" altLang="en-US" sz="1600" dirty="0"/>
              <a:t>자료 가이드라인</a:t>
            </a:r>
            <a:r>
              <a:rPr lang="en-US" altLang="ko-KR" sz="1600" dirty="0"/>
              <a:t>, </a:t>
            </a:r>
            <a:r>
              <a:rPr lang="ko-KR" altLang="en-US" sz="1600" dirty="0"/>
              <a:t>별지</a:t>
            </a:r>
            <a:r>
              <a:rPr lang="en-US" altLang="ko-KR" sz="1600" dirty="0"/>
              <a:t>1 </a:t>
            </a:r>
            <a:r>
              <a:rPr lang="ko-KR" altLang="en-US" sz="1600" dirty="0"/>
              <a:t>슬라이드는 발표에 미포함입니다</a:t>
            </a:r>
            <a:r>
              <a:rPr lang="en-US" altLang="ko-KR" sz="1600" dirty="0"/>
              <a:t>. </a:t>
            </a:r>
            <a:r>
              <a:rPr lang="ko-KR" altLang="en-US" sz="1600" b="1" dirty="0">
                <a:solidFill>
                  <a:srgbClr val="243A5E"/>
                </a:solidFill>
              </a:rPr>
              <a:t>제출 전 확인 후 삭제 바랍니다</a:t>
            </a:r>
            <a:r>
              <a:rPr lang="en-US" altLang="ko-KR" sz="1600" b="1" dirty="0">
                <a:solidFill>
                  <a:srgbClr val="243A5E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243A5E"/>
                </a:solidFill>
              </a:rPr>
              <a:t>발표 </a:t>
            </a:r>
            <a:r>
              <a:rPr lang="en-US" altLang="ko-KR" sz="1600" b="1" dirty="0">
                <a:solidFill>
                  <a:srgbClr val="243A5E"/>
                </a:solidFill>
              </a:rPr>
              <a:t>10</a:t>
            </a:r>
            <a:r>
              <a:rPr lang="ko-KR" altLang="en-US" sz="1600" b="1" dirty="0">
                <a:solidFill>
                  <a:srgbClr val="243A5E"/>
                </a:solidFill>
              </a:rPr>
              <a:t>분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질의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분 진행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1600" b="1" dirty="0">
                <a:solidFill>
                  <a:srgbClr val="243A5E"/>
                </a:solidFill>
              </a:rPr>
              <a:t>발표 </a:t>
            </a:r>
            <a:r>
              <a:rPr lang="en-US" altLang="ko-KR" sz="1600" b="1" dirty="0">
                <a:solidFill>
                  <a:srgbClr val="243A5E"/>
                </a:solidFill>
              </a:rPr>
              <a:t>10</a:t>
            </a:r>
            <a:r>
              <a:rPr lang="ko-KR" altLang="en-US" sz="1600" b="1" dirty="0">
                <a:solidFill>
                  <a:srgbClr val="243A5E"/>
                </a:solidFill>
              </a:rPr>
              <a:t>분 초과 </a:t>
            </a:r>
            <a:r>
              <a:rPr lang="en-US" altLang="ko-KR" sz="1600" b="1" dirty="0">
                <a:solidFill>
                  <a:srgbClr val="243A5E"/>
                </a:solidFill>
              </a:rPr>
              <a:t>-9</a:t>
            </a:r>
            <a:r>
              <a:rPr lang="ko-KR" altLang="en-US" sz="1600" b="1" dirty="0">
                <a:solidFill>
                  <a:srgbClr val="243A5E"/>
                </a:solidFill>
              </a:rPr>
              <a:t>점</a:t>
            </a:r>
            <a:r>
              <a:rPr lang="en-US" altLang="ko-KR" sz="1600" b="1" dirty="0">
                <a:solidFill>
                  <a:srgbClr val="243A5E"/>
                </a:solidFill>
              </a:rPr>
              <a:t>, 11</a:t>
            </a:r>
            <a:r>
              <a:rPr lang="ko-KR" altLang="en-US" sz="1600" b="1" dirty="0">
                <a:solidFill>
                  <a:srgbClr val="243A5E"/>
                </a:solidFill>
              </a:rPr>
              <a:t>분 초과 </a:t>
            </a:r>
            <a:r>
              <a:rPr lang="en-US" altLang="ko-KR" sz="1600" b="1" dirty="0">
                <a:solidFill>
                  <a:srgbClr val="243A5E"/>
                </a:solidFill>
              </a:rPr>
              <a:t>-15</a:t>
            </a:r>
            <a:r>
              <a:rPr lang="ko-KR" altLang="en-US" sz="1600" b="1" dirty="0">
                <a:solidFill>
                  <a:srgbClr val="243A5E"/>
                </a:solidFill>
              </a:rPr>
              <a:t>점</a:t>
            </a:r>
            <a:r>
              <a:rPr lang="en-US" altLang="ko-KR" sz="1600" b="1" dirty="0">
                <a:solidFill>
                  <a:srgbClr val="243A5E"/>
                </a:solidFill>
              </a:rPr>
              <a:t>, 12</a:t>
            </a:r>
            <a:r>
              <a:rPr lang="ko-KR" altLang="en-US" sz="1600" b="1" dirty="0">
                <a:solidFill>
                  <a:srgbClr val="243A5E"/>
                </a:solidFill>
              </a:rPr>
              <a:t>분 초과 </a:t>
            </a:r>
            <a:r>
              <a:rPr lang="en-US" altLang="ko-KR" sz="1600" b="1" dirty="0">
                <a:solidFill>
                  <a:srgbClr val="243A5E"/>
                </a:solidFill>
              </a:rPr>
              <a:t>-21</a:t>
            </a:r>
            <a:r>
              <a:rPr lang="ko-KR" altLang="en-US" sz="1600" b="1" dirty="0">
                <a:solidFill>
                  <a:srgbClr val="243A5E"/>
                </a:solidFill>
              </a:rPr>
              <a:t>점 및 발표 중단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제출 결과물은 </a:t>
            </a:r>
            <a:r>
              <a:rPr lang="ko-KR" altLang="en-US" sz="1600" b="1" dirty="0">
                <a:solidFill>
                  <a:srgbClr val="243A5E"/>
                </a:solidFill>
              </a:rPr>
              <a:t>크롬에서 로그인 및 결제 없이 구동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되어야 함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영상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PPT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카드뉴스 불가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본선 단독평가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altLang="ko-KR" sz="1600" b="1" dirty="0">
                <a:solidFill>
                  <a:srgbClr val="243A5E"/>
                </a:solidFill>
              </a:rPr>
              <a:t>1</a:t>
            </a:r>
            <a:r>
              <a:rPr lang="ko-KR" altLang="en-US" sz="1600" b="1" dirty="0">
                <a:solidFill>
                  <a:srgbClr val="243A5E"/>
                </a:solidFill>
              </a:rPr>
              <a:t>차 </a:t>
            </a:r>
            <a:r>
              <a:rPr lang="ko-KR" altLang="en-US" sz="1600" b="1" dirty="0" err="1">
                <a:solidFill>
                  <a:srgbClr val="243A5E"/>
                </a:solidFill>
              </a:rPr>
              <a:t>미합산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dirty="0">
                <a:solidFill>
                  <a:srgbClr val="243A5E"/>
                </a:solidFill>
              </a:rPr>
              <a:t>*</a:t>
            </a:r>
            <a:r>
              <a:rPr lang="ko-KR" altLang="en-US" sz="1600" b="1" dirty="0">
                <a:solidFill>
                  <a:srgbClr val="243A5E"/>
                </a:solidFill>
              </a:rPr>
              <a:t>심사는 평가 항목이 결과물에 드러나는지를 봅니다</a:t>
            </a:r>
            <a:r>
              <a:rPr lang="en-US" altLang="ko-KR" sz="1600" b="1" dirty="0">
                <a:solidFill>
                  <a:srgbClr val="243A5E"/>
                </a:solidFill>
              </a:rPr>
              <a:t>.</a:t>
            </a:r>
            <a:endParaRPr lang="ko-KR" altLang="en-US" sz="1600" b="1" dirty="0">
              <a:solidFill>
                <a:srgbClr val="243A5E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4C034C-82C3-4428-A334-4940ECEC0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895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8D2801-81CA-4DE2-A1A6-54E35269E51C}"/>
              </a:ext>
            </a:extLst>
          </p:cNvPr>
          <p:cNvSpPr txBox="1"/>
          <p:nvPr/>
        </p:nvSpPr>
        <p:spPr>
          <a:xfrm>
            <a:off x="923825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본선 발표 심사 평가 세부 기준</a:t>
            </a:r>
            <a:endParaRPr lang="ko-KR" altLang="en-US" sz="1600" dirty="0">
              <a:solidFill>
                <a:srgbClr val="F3ECDC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4C034C-82C3-4428-A334-4940ECEC0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3</a:t>
            </a:fld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DE2B58B-1D77-492D-A1F6-4B7F00C20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051330"/>
              </p:ext>
            </p:extLst>
          </p:nvPr>
        </p:nvGraphicFramePr>
        <p:xfrm>
          <a:off x="923823" y="1919195"/>
          <a:ext cx="10721836" cy="3631191"/>
        </p:xfrm>
        <a:graphic>
          <a:graphicData uri="http://schemas.openxmlformats.org/drawingml/2006/table">
            <a:tbl>
              <a:tblPr/>
              <a:tblGrid>
                <a:gridCol w="1017979">
                  <a:extLst>
                    <a:ext uri="{9D8B030D-6E8A-4147-A177-3AD203B41FA5}">
                      <a16:colId xmlns:a16="http://schemas.microsoft.com/office/drawing/2014/main" val="3966234682"/>
                    </a:ext>
                  </a:extLst>
                </a:gridCol>
                <a:gridCol w="692687">
                  <a:extLst>
                    <a:ext uri="{9D8B030D-6E8A-4147-A177-3AD203B41FA5}">
                      <a16:colId xmlns:a16="http://schemas.microsoft.com/office/drawing/2014/main" val="2688193354"/>
                    </a:ext>
                  </a:extLst>
                </a:gridCol>
                <a:gridCol w="851307">
                  <a:extLst>
                    <a:ext uri="{9D8B030D-6E8A-4147-A177-3AD203B41FA5}">
                      <a16:colId xmlns:a16="http://schemas.microsoft.com/office/drawing/2014/main" val="1676603603"/>
                    </a:ext>
                  </a:extLst>
                </a:gridCol>
                <a:gridCol w="8159863">
                  <a:extLst>
                    <a:ext uri="{9D8B030D-6E8A-4147-A177-3AD203B41FA5}">
                      <a16:colId xmlns:a16="http://schemas.microsoft.com/office/drawing/2014/main" val="2209854407"/>
                    </a:ext>
                  </a:extLst>
                </a:gridCol>
              </a:tblGrid>
              <a:tr h="4130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심사 항목</a:t>
                      </a:r>
                      <a:endParaRPr lang="ko-KR" altLang="en-US" sz="12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 배점</a:t>
                      </a:r>
                      <a:endParaRPr lang="ko-KR" altLang="en-US" sz="12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세부 배점</a:t>
                      </a:r>
                      <a:endParaRPr lang="ko-KR" altLang="en-US" sz="12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심사 내용</a:t>
                      </a:r>
                      <a:endParaRPr lang="ko-KR" altLang="en-US" sz="12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344975"/>
                  </a:ext>
                </a:extLst>
              </a:tr>
              <a:tr h="24158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주제 적합성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개발계획서에 제시한 기상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ᆞ·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기후 개념이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다루어졌는가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55265"/>
                  </a:ext>
                </a:extLst>
              </a:tr>
              <a:tr h="2415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사용자가 결과물을 체험하며 그 주제를 명확하게 인식할 수 있는가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200513"/>
                  </a:ext>
                </a:extLst>
              </a:tr>
              <a:tr h="24158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9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체험</a:t>
                      </a:r>
                      <a:r>
                        <a:rPr lang="en-US" altLang="ko-KR" sz="1200" b="1" kern="0" spc="-9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b="1" kern="0" spc="-9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참여형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설계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9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사용자의 조작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선택이 실제로 작동하고 학습 개념과 연계되는가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806359"/>
                  </a:ext>
                </a:extLst>
              </a:tr>
              <a:tr h="4032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marR="0" indent="-10795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단순 정보 전달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읽기형이 아니라 변수를 바꿔보며 학습 탐구가 가능하고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조작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선택을 직관적으로 하며 학습 개념을 해석 할 수 있는가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336265"/>
                  </a:ext>
                </a:extLst>
              </a:tr>
              <a:tr h="24158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학습 효과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학습 대상이 명확하고 콘텐츠가 대상에 적합한 난이도인가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315359"/>
                  </a:ext>
                </a:extLst>
              </a:tr>
              <a:tr h="2415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학습 성과가 구체적이며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잘못된 조작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ᆞ·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선택에 대한 학습적 피드백이 있는가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354176"/>
                  </a:ext>
                </a:extLst>
              </a:tr>
              <a:tr h="24158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아이디어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독창성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6990" marR="0" indent="-4699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개발물의 독창성을 차별화 포인트를 들어 구체적으로 구현하였는가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9639338"/>
                  </a:ext>
                </a:extLst>
              </a:tr>
              <a:tr h="2415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6990" marR="0" indent="-4699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개발물이 사용자에게 새로운 학습 경험과 인터랙션을 제공하는가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737950"/>
                  </a:ext>
                </a:extLst>
              </a:tr>
              <a:tr h="388182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구현 완성도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4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3190" marR="0" indent="-12319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URL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접속으로 핵심 기능이 안정적으로 구동되고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계획한 핵심 기능과 체험이 실제로 작동하며 완성도가 높은가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906776"/>
                  </a:ext>
                </a:extLst>
              </a:tr>
              <a:tr h="3881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0490" marR="0" indent="-11049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기상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기후 데이터가 개발물에 실제 반영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작동하고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AI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도구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기술이 결과물 제작 과정에서 효과적으로 적용되었는가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42865"/>
                  </a:ext>
                </a:extLst>
              </a:tr>
              <a:tr h="2975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D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832035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BDDF27C5-5AAB-4985-91D5-C3DBC74B7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38" y="23987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51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B07526E-3A37-47E4-9FCB-9FEEF1487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813" y="2480141"/>
            <a:ext cx="4461101" cy="2509369"/>
          </a:xfrm>
          <a:prstGeom prst="rect">
            <a:avLst/>
          </a:prstGeom>
          <a:ln w="19050">
            <a:solidFill>
              <a:srgbClr val="243A5E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8D2801-81CA-4DE2-A1A6-54E35269E51C}"/>
              </a:ext>
            </a:extLst>
          </p:cNvPr>
          <p:cNvSpPr txBox="1"/>
          <p:nvPr/>
        </p:nvSpPr>
        <p:spPr>
          <a:xfrm>
            <a:off x="923825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발표 자료 작성 안내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4C034C-82C3-4428-A334-4940ECEC0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순서도: 수동 연산 6">
            <a:extLst>
              <a:ext uri="{FF2B5EF4-FFF2-40B4-BE49-F238E27FC236}">
                <a16:creationId xmlns:a16="http://schemas.microsoft.com/office/drawing/2014/main" id="{D068AC8B-5E7C-4717-9300-5ED362509B18}"/>
              </a:ext>
            </a:extLst>
          </p:cNvPr>
          <p:cNvSpPr/>
          <p:nvPr/>
        </p:nvSpPr>
        <p:spPr>
          <a:xfrm rot="5400000">
            <a:off x="4652599" y="3586937"/>
            <a:ext cx="1536414" cy="295780"/>
          </a:xfrm>
          <a:prstGeom prst="flowChartManualOperation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72F5B-ABBC-4DEA-A5DF-5751F8ED9ED2}"/>
              </a:ext>
            </a:extLst>
          </p:cNvPr>
          <p:cNvSpPr/>
          <p:nvPr/>
        </p:nvSpPr>
        <p:spPr>
          <a:xfrm>
            <a:off x="1058045" y="2537559"/>
            <a:ext cx="1380308" cy="1688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DA20C32-C4F3-4CFB-BE11-C7B2967398D6}"/>
              </a:ext>
            </a:extLst>
          </p:cNvPr>
          <p:cNvSpPr/>
          <p:nvPr/>
        </p:nvSpPr>
        <p:spPr>
          <a:xfrm>
            <a:off x="1058045" y="2959202"/>
            <a:ext cx="1059880" cy="1688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B83DEA-D209-484B-9877-2F950C33426E}"/>
              </a:ext>
            </a:extLst>
          </p:cNvPr>
          <p:cNvSpPr txBox="1"/>
          <p:nvPr/>
        </p:nvSpPr>
        <p:spPr>
          <a:xfrm>
            <a:off x="2471703" y="2404384"/>
            <a:ext cx="1031591" cy="38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FF0000"/>
                </a:solidFill>
              </a:rPr>
              <a:t>평가 항목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C81D4C-9911-4B1E-844B-DE5A52CF9D54}"/>
              </a:ext>
            </a:extLst>
          </p:cNvPr>
          <p:cNvSpPr txBox="1"/>
          <p:nvPr/>
        </p:nvSpPr>
        <p:spPr>
          <a:xfrm>
            <a:off x="2109709" y="2854942"/>
            <a:ext cx="1301156" cy="286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FF0000"/>
                </a:solidFill>
              </a:rPr>
              <a:t>필수 작성 요소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5D16AD-A8BA-42D7-BCA0-BBEBCD4057AF}"/>
              </a:ext>
            </a:extLst>
          </p:cNvPr>
          <p:cNvSpPr txBox="1"/>
          <p:nvPr/>
        </p:nvSpPr>
        <p:spPr>
          <a:xfrm>
            <a:off x="5678424" y="2703775"/>
            <a:ext cx="58182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각 장의 </a:t>
            </a:r>
            <a:r>
              <a:rPr lang="ko-KR" altLang="en-US" sz="1600" b="1" dirty="0">
                <a:latin typeface="+mj-ea"/>
                <a:ea typeface="+mj-ea"/>
              </a:rPr>
              <a:t>평가 항목과 필수 작성요소는 반드시</a:t>
            </a:r>
            <a:br>
              <a:rPr lang="en-US" altLang="ko-KR" sz="1600" b="1" dirty="0">
                <a:latin typeface="+mj-ea"/>
                <a:ea typeface="+mj-ea"/>
              </a:rPr>
            </a:br>
            <a:r>
              <a:rPr lang="ko-KR" altLang="en-US" sz="1600" b="1" dirty="0">
                <a:latin typeface="+mj-ea"/>
                <a:ea typeface="+mj-ea"/>
              </a:rPr>
              <a:t>내용에</a:t>
            </a:r>
            <a:r>
              <a:rPr lang="en-US" altLang="ko-KR" sz="1600" b="1" dirty="0">
                <a:latin typeface="+mj-ea"/>
                <a:ea typeface="+mj-ea"/>
              </a:rPr>
              <a:t> </a:t>
            </a:r>
            <a:r>
              <a:rPr lang="ko-KR" altLang="en-US" sz="1600" b="1" dirty="0">
                <a:latin typeface="+mj-ea"/>
                <a:ea typeface="+mj-ea"/>
              </a:rPr>
              <a:t>포함</a:t>
            </a:r>
            <a:r>
              <a:rPr lang="ko-KR" altLang="en-US" sz="1600" dirty="0">
                <a:latin typeface="+mj-ea"/>
                <a:ea typeface="+mj-ea"/>
              </a:rPr>
              <a:t>해 주시기 바랍니다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작성된 슬라이드 제목 및 안내 문구는 작성 예시이므로</a:t>
            </a:r>
            <a:r>
              <a:rPr lang="en-US" altLang="ko-KR" sz="1600" dirty="0">
                <a:latin typeface="+mj-ea"/>
                <a:ea typeface="+mj-ea"/>
              </a:rPr>
              <a:t>,</a:t>
            </a:r>
            <a:br>
              <a:rPr lang="en-US" altLang="ko-KR" sz="1600" dirty="0">
                <a:latin typeface="+mj-ea"/>
                <a:ea typeface="+mj-ea"/>
              </a:rPr>
            </a:br>
            <a:r>
              <a:rPr lang="ko-KR" altLang="en-US" sz="1600" dirty="0">
                <a:latin typeface="+mj-ea"/>
                <a:ea typeface="+mj-ea"/>
              </a:rPr>
              <a:t>실제 내용으로 </a:t>
            </a:r>
            <a:r>
              <a:rPr lang="ko-KR" altLang="en-US" sz="1600" b="1" dirty="0">
                <a:latin typeface="+mj-ea"/>
                <a:ea typeface="+mj-ea"/>
              </a:rPr>
              <a:t>모두 교체</a:t>
            </a:r>
            <a:r>
              <a:rPr lang="ko-KR" altLang="en-US" sz="1600" dirty="0">
                <a:latin typeface="+mj-ea"/>
                <a:ea typeface="+mj-ea"/>
              </a:rPr>
              <a:t>해 주십시오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디자인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레이아웃</a:t>
            </a:r>
            <a:r>
              <a:rPr lang="en-US" altLang="ko-KR" sz="1600" dirty="0">
                <a:latin typeface="+mj-ea"/>
                <a:ea typeface="+mj-ea"/>
              </a:rPr>
              <a:t>·</a:t>
            </a:r>
            <a:r>
              <a:rPr lang="ko-KR" altLang="en-US" sz="1600" dirty="0">
                <a:latin typeface="+mj-ea"/>
                <a:ea typeface="+mj-ea"/>
              </a:rPr>
              <a:t>색상</a:t>
            </a:r>
            <a:r>
              <a:rPr lang="en-US" altLang="ko-KR" sz="1600" dirty="0">
                <a:latin typeface="+mj-ea"/>
                <a:ea typeface="+mj-ea"/>
              </a:rPr>
              <a:t>·</a:t>
            </a:r>
            <a:r>
              <a:rPr lang="ko-KR" altLang="en-US" sz="1600" dirty="0">
                <a:latin typeface="+mj-ea"/>
                <a:ea typeface="+mj-ea"/>
              </a:rPr>
              <a:t>폰트</a:t>
            </a:r>
            <a:r>
              <a:rPr lang="en-US" altLang="ko-KR" sz="1600" dirty="0">
                <a:latin typeface="+mj-ea"/>
                <a:ea typeface="+mj-ea"/>
              </a:rPr>
              <a:t>·</a:t>
            </a:r>
            <a:r>
              <a:rPr lang="ko-KR" altLang="en-US" sz="1600" dirty="0">
                <a:latin typeface="+mj-ea"/>
                <a:ea typeface="+mj-ea"/>
              </a:rPr>
              <a:t>글자 크기</a:t>
            </a:r>
            <a:r>
              <a:rPr lang="en-US" altLang="ko-KR" sz="1600" dirty="0">
                <a:latin typeface="+mj-ea"/>
                <a:ea typeface="+mj-ea"/>
              </a:rPr>
              <a:t>·</a:t>
            </a:r>
            <a:r>
              <a:rPr lang="ko-KR" altLang="en-US" sz="1600" dirty="0">
                <a:latin typeface="+mj-ea"/>
                <a:ea typeface="+mj-ea"/>
              </a:rPr>
              <a:t>이미지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삽입 등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  <a:r>
              <a:rPr lang="ko-KR" altLang="en-US" sz="1600" dirty="0">
                <a:latin typeface="+mj-ea"/>
                <a:ea typeface="+mj-ea"/>
              </a:rPr>
              <a:t>은</a:t>
            </a:r>
            <a:br>
              <a:rPr lang="en-US" altLang="ko-KR" sz="1600" dirty="0">
                <a:latin typeface="+mj-ea"/>
                <a:ea typeface="+mj-ea"/>
              </a:rPr>
            </a:br>
            <a:r>
              <a:rPr lang="ko-KR" altLang="en-US" sz="1600" b="1" dirty="0">
                <a:latin typeface="+mj-ea"/>
                <a:ea typeface="+mj-ea"/>
              </a:rPr>
              <a:t>자유롭게 변경 가능</a:t>
            </a:r>
            <a:r>
              <a:rPr lang="ko-KR" altLang="en-US" sz="1600" dirty="0">
                <a:latin typeface="+mj-ea"/>
                <a:ea typeface="+mj-ea"/>
              </a:rPr>
              <a:t>합니다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단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b="1" dirty="0">
                <a:latin typeface="+mj-ea"/>
                <a:ea typeface="+mj-ea"/>
              </a:rPr>
              <a:t>필수 작성요소는 반드시</a:t>
            </a:r>
            <a:r>
              <a:rPr lang="en-US" altLang="ko-KR" sz="1600" b="1" dirty="0">
                <a:latin typeface="+mj-ea"/>
                <a:ea typeface="+mj-ea"/>
              </a:rPr>
              <a:t> </a:t>
            </a:r>
            <a:r>
              <a:rPr lang="ko-KR" altLang="en-US" sz="1600" b="1" dirty="0">
                <a:latin typeface="+mj-ea"/>
                <a:ea typeface="+mj-ea"/>
              </a:rPr>
              <a:t>포함</a:t>
            </a:r>
            <a:r>
              <a:rPr lang="ko-KR" altLang="en-US" sz="1600" dirty="0">
                <a:latin typeface="+mj-ea"/>
                <a:ea typeface="+mj-ea"/>
              </a:rPr>
              <a:t>되어야 합니다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  <a:br>
              <a:rPr lang="en-US" altLang="ko-KR" sz="1600" dirty="0">
                <a:latin typeface="+mj-ea"/>
                <a:ea typeface="+mj-ea"/>
              </a:rPr>
            </a:b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누락 시 심사 항목 평가에 불리하게 작용할 수 있음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6898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E44EC2-EFEC-4FD7-B852-DC26E5339E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 </a:t>
            </a:r>
            <a:r>
              <a:rPr lang="ko-KR" altLang="en-US" dirty="0"/>
              <a:t>결과물 및 팀 기본 정보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C2B8884-3C95-4B01-9701-49C80C6C5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647369"/>
              </p:ext>
            </p:extLst>
          </p:nvPr>
        </p:nvGraphicFramePr>
        <p:xfrm>
          <a:off x="695325" y="1834221"/>
          <a:ext cx="5912866" cy="4474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285">
                  <a:extLst>
                    <a:ext uri="{9D8B030D-6E8A-4147-A177-3AD203B41FA5}">
                      <a16:colId xmlns:a16="http://schemas.microsoft.com/office/drawing/2014/main" val="586554776"/>
                    </a:ext>
                  </a:extLst>
                </a:gridCol>
                <a:gridCol w="4539581">
                  <a:extLst>
                    <a:ext uri="{9D8B030D-6E8A-4147-A177-3AD203B41FA5}">
                      <a16:colId xmlns:a16="http://schemas.microsoft.com/office/drawing/2014/main" val="969126144"/>
                    </a:ext>
                  </a:extLst>
                </a:gridCol>
              </a:tblGrid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팀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내용 기입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287245"/>
                  </a:ext>
                </a:extLst>
              </a:tr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프로젝트명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내용 기입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726789"/>
                  </a:ext>
                </a:extLst>
              </a:tr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결과물 접속 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URL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내용 기입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283240"/>
                  </a:ext>
                </a:extLst>
              </a:tr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한 줄 소개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내용 기입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무엇을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페이퍼로지 8 ExtraBold" pitchFamily="2" charset="-127"/>
                          <a:ea typeface="페이퍼로지 8 ExtraBold" pitchFamily="2" charset="-127"/>
                        </a:rPr>
                        <a:t>∙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누구를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위해 학습시키는가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40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자 내외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0220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48080B-6C64-460A-B146-BE3F10BF41DA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결과물 기본 정보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F5F249-7C5F-41C6-B25B-769B40D71A76}"/>
              </a:ext>
            </a:extLst>
          </p:cNvPr>
          <p:cNvSpPr txBox="1"/>
          <p:nvPr/>
        </p:nvSpPr>
        <p:spPr>
          <a:xfrm>
            <a:off x="6931843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팀</a:t>
            </a:r>
            <a:r>
              <a:rPr lang="en-US" altLang="ko-KR" sz="1600" b="1" dirty="0">
                <a:solidFill>
                  <a:srgbClr val="243A5E"/>
                </a:solidFill>
              </a:rPr>
              <a:t>(</a:t>
            </a:r>
            <a:r>
              <a:rPr lang="ko-KR" altLang="en-US" sz="1600" b="1" dirty="0">
                <a:solidFill>
                  <a:srgbClr val="243A5E"/>
                </a:solidFill>
              </a:rPr>
              <a:t>원</a:t>
            </a:r>
            <a:r>
              <a:rPr lang="en-US" altLang="ko-KR" sz="1600" b="1" dirty="0">
                <a:solidFill>
                  <a:srgbClr val="243A5E"/>
                </a:solidFill>
              </a:rPr>
              <a:t>) </a:t>
            </a:r>
            <a:r>
              <a:rPr lang="ko-KR" altLang="en-US" sz="1600" b="1" dirty="0">
                <a:solidFill>
                  <a:srgbClr val="243A5E"/>
                </a:solidFill>
              </a:rPr>
              <a:t>기본 정보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8A93D-B596-453E-B7AD-10652D7A9AFA}"/>
              </a:ext>
            </a:extLst>
          </p:cNvPr>
          <p:cNvSpPr txBox="1"/>
          <p:nvPr/>
        </p:nvSpPr>
        <p:spPr>
          <a:xfrm>
            <a:off x="7145515" y="1726793"/>
            <a:ext cx="3714163" cy="190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이름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역할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(ex.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기획 및 팀장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이름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역할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(ex.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개발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이름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역할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(ex.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데이터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이름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역할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(ex.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디자인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*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팀 구성에 맞게 기입</a:t>
            </a:r>
            <a:endParaRPr lang="en-US" altLang="ko-K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34E886-5123-4BC2-B466-2D03FCDE9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364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학습 대상 분석 </a:t>
            </a:r>
            <a:r>
              <a:rPr lang="en-US" altLang="ko-KR" dirty="0"/>
              <a:t>(</a:t>
            </a:r>
            <a:r>
              <a:rPr lang="ko-KR" altLang="en-US" dirty="0"/>
              <a:t>자유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(1) </a:t>
            </a:r>
            <a:r>
              <a:rPr lang="ko-KR" altLang="en-US" dirty="0"/>
              <a:t>학습 효과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3B9B69-CD13-4ABA-89B7-714CC4BFB1BF}"/>
              </a:ext>
            </a:extLst>
          </p:cNvPr>
          <p:cNvSpPr/>
          <p:nvPr/>
        </p:nvSpPr>
        <p:spPr>
          <a:xfrm>
            <a:off x="763570" y="1801367"/>
            <a:ext cx="10664860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학습 대상 선정 이유 및 콘텐츠 난이도가 적절한지 근거 제시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11B287-3CD4-4307-84DA-D9AB62A182C9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학습 대상과 난이도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2933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문제 정의 및 분석 </a:t>
            </a:r>
            <a:r>
              <a:rPr lang="en-US" altLang="ko-KR" dirty="0"/>
              <a:t>(</a:t>
            </a:r>
            <a:r>
              <a:rPr lang="ko-KR" altLang="en-US" dirty="0"/>
              <a:t>자유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(2) </a:t>
            </a:r>
            <a:r>
              <a:rPr lang="ko-KR" altLang="en-US" dirty="0"/>
              <a:t>주제 적합성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839DF-756A-4E6A-AD22-E947033D59E5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다루는 </a:t>
            </a:r>
            <a:r>
              <a:rPr lang="ko-KR" altLang="en-US" sz="1600" b="1" dirty="0" err="1">
                <a:solidFill>
                  <a:srgbClr val="243A5E"/>
                </a:solidFill>
              </a:rPr>
              <a:t>기상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기후</a:t>
            </a:r>
            <a:r>
              <a:rPr lang="ko-KR" altLang="en-US" sz="1600" b="1" dirty="0">
                <a:solidFill>
                  <a:srgbClr val="243A5E"/>
                </a:solidFill>
              </a:rPr>
              <a:t> 개념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5AF997-4027-4587-9DE0-F2F8CAC57DE9}"/>
              </a:ext>
            </a:extLst>
          </p:cNvPr>
          <p:cNvSpPr/>
          <p:nvPr/>
        </p:nvSpPr>
        <p:spPr>
          <a:xfrm>
            <a:off x="763570" y="1801367"/>
            <a:ext cx="5125166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개발계획서에 제시한 기상기후개념이 무엇이며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결과물에서 어떻게 다뤄지는지 기술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61FE07-854A-44C9-B054-CD4DF9D05556}"/>
              </a:ext>
            </a:extLst>
          </p:cNvPr>
          <p:cNvSpPr/>
          <p:nvPr/>
        </p:nvSpPr>
        <p:spPr>
          <a:xfrm>
            <a:off x="6303264" y="1801368"/>
            <a:ext cx="5125166" cy="4596706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사용자가 학습하는 과정에서 그 주제를 인식할 수 있는 근거 제시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F865F0-8E23-45CF-A2AE-A46E36414914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체험 중 주제 인식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8923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아이디어 도출 </a:t>
            </a:r>
            <a:r>
              <a:rPr lang="en-US" altLang="ko-KR" dirty="0"/>
              <a:t>(</a:t>
            </a:r>
            <a:r>
              <a:rPr lang="ko-KR" altLang="en-US" dirty="0"/>
              <a:t>자유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(3) </a:t>
            </a:r>
            <a:r>
              <a:rPr lang="ko-KR" altLang="en-US" dirty="0"/>
              <a:t>아이디어 독창성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2C525-A8A5-4BC9-974B-CDB882122563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차별화 포인트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23CE83-9F51-4381-9B10-B4B02CB3D987}"/>
              </a:ext>
            </a:extLst>
          </p:cNvPr>
          <p:cNvSpPr/>
          <p:nvPr/>
        </p:nvSpPr>
        <p:spPr>
          <a:xfrm>
            <a:off x="763570" y="1801367"/>
            <a:ext cx="5125166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개발물의 독창적인 차별화 포인트 제시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D71CAD-7DBD-4A18-9BBC-EF7E61C95575}"/>
              </a:ext>
            </a:extLst>
          </p:cNvPr>
          <p:cNvSpPr/>
          <p:nvPr/>
        </p:nvSpPr>
        <p:spPr>
          <a:xfrm>
            <a:off x="6303264" y="1801368"/>
            <a:ext cx="5125166" cy="4596706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사용자에게 어떤 새로운 학습 경험과 </a:t>
            </a:r>
            <a:r>
              <a:rPr lang="ko-KR" altLang="en-US" sz="1200" dirty="0" err="1">
                <a:solidFill>
                  <a:schemeClr val="tx1"/>
                </a:solidFill>
              </a:rPr>
              <a:t>인터렉션을</a:t>
            </a:r>
            <a:r>
              <a:rPr lang="ko-KR" altLang="en-US" sz="1200" dirty="0">
                <a:solidFill>
                  <a:schemeClr val="tx1"/>
                </a:solidFill>
              </a:rPr>
              <a:t> 제공하는지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F333DD-0B00-4716-9907-EA19D8AE674F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새로운 학습 경험과 </a:t>
            </a:r>
            <a:r>
              <a:rPr lang="ko-KR" altLang="en-US" sz="1600" b="1" dirty="0" err="1">
                <a:solidFill>
                  <a:srgbClr val="243A5E"/>
                </a:solidFill>
              </a:rPr>
              <a:t>인터렉션</a:t>
            </a:r>
            <a:endParaRPr lang="ko-KR" altLang="en-US" sz="1600" dirty="0">
              <a:solidFill>
                <a:srgbClr val="F3ECD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670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ko-KR" altLang="en-US" dirty="0" err="1"/>
              <a:t>체험</a:t>
            </a:r>
            <a:r>
              <a:rPr lang="ko-KR" altLang="en-US" dirty="0" err="1"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dirty="0" err="1"/>
              <a:t>참여형</a:t>
            </a:r>
            <a:r>
              <a:rPr lang="ko-KR" altLang="en-US" dirty="0"/>
              <a:t> 설계 </a:t>
            </a:r>
            <a:r>
              <a:rPr lang="en-US" altLang="ko-KR" dirty="0"/>
              <a:t>(</a:t>
            </a:r>
            <a:r>
              <a:rPr lang="ko-KR" altLang="en-US" dirty="0"/>
              <a:t>자유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(4) </a:t>
            </a:r>
            <a:r>
              <a:rPr lang="ko-KR" altLang="en-US" dirty="0" err="1"/>
              <a:t>체험</a:t>
            </a:r>
            <a:r>
              <a:rPr lang="ko-KR" altLang="en-US" dirty="0" err="1"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dirty="0" err="1"/>
              <a:t>참여형</a:t>
            </a:r>
            <a:r>
              <a:rPr lang="ko-KR" altLang="en-US" dirty="0"/>
              <a:t> 설계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025F57-79A1-487A-9B9B-DB80AFF0BD3F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 err="1">
                <a:solidFill>
                  <a:srgbClr val="243A5E"/>
                </a:solidFill>
              </a:rPr>
              <a:t>조작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선택과</a:t>
            </a:r>
            <a:r>
              <a:rPr lang="ko-KR" altLang="en-US" sz="1600" b="1" dirty="0">
                <a:solidFill>
                  <a:srgbClr val="243A5E"/>
                </a:solidFill>
              </a:rPr>
              <a:t> 학습 개념의 연계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2BA7C6-A9C7-45E9-8639-8B9BBAAF5193}"/>
              </a:ext>
            </a:extLst>
          </p:cNvPr>
          <p:cNvSpPr/>
          <p:nvPr/>
        </p:nvSpPr>
        <p:spPr>
          <a:xfrm>
            <a:off x="763570" y="1801367"/>
            <a:ext cx="5125166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사용자의 </a:t>
            </a:r>
            <a:r>
              <a:rPr lang="ko-KR" altLang="en-US" sz="1200" dirty="0" err="1">
                <a:solidFill>
                  <a:schemeClr val="tx1"/>
                </a:solidFill>
              </a:rPr>
              <a:t>조작∙선택이</a:t>
            </a:r>
            <a:r>
              <a:rPr lang="ko-KR" altLang="en-US" sz="1200" dirty="0">
                <a:solidFill>
                  <a:schemeClr val="tx1"/>
                </a:solidFill>
              </a:rPr>
              <a:t> 실제로 작동하는지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그 결과가 학습 개념과 어떻게 연결되는지 설명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E136B6-B59B-4080-96C2-2494E87C33ED}"/>
              </a:ext>
            </a:extLst>
          </p:cNvPr>
          <p:cNvSpPr/>
          <p:nvPr/>
        </p:nvSpPr>
        <p:spPr>
          <a:xfrm>
            <a:off x="6303264" y="1801368"/>
            <a:ext cx="5125166" cy="4596706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학습자가 변수를 바꿔보며 직접 탐구할 수 있는지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조작 결과를 직관적으로 해석 가능한지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A3589-B7F1-4D9D-BC79-DFC4623843F4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체험 요소 </a:t>
            </a:r>
          </a:p>
        </p:txBody>
      </p:sp>
    </p:spTree>
    <p:extLst>
      <p:ext uri="{BB962C8B-B14F-4D97-AF65-F5344CB8AC3E}">
        <p14:creationId xmlns:p14="http://schemas.microsoft.com/office/powerpoint/2010/main" val="2898315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5.</a:t>
            </a:r>
            <a:r>
              <a:rPr lang="ko-KR" altLang="en-US" dirty="0"/>
              <a:t> 학습 성과와 학습적 피드백 </a:t>
            </a:r>
            <a:r>
              <a:rPr lang="en-US" altLang="ko-KR" dirty="0"/>
              <a:t>(</a:t>
            </a:r>
            <a:r>
              <a:rPr lang="ko-KR" altLang="en-US" dirty="0"/>
              <a:t>자유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(5) </a:t>
            </a:r>
            <a:r>
              <a:rPr lang="ko-KR" altLang="en-US" dirty="0"/>
              <a:t>학습 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D3FC62-F864-4C9F-A90B-09C29A7B1965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학습 성과와 피드백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7474FD1-2FF0-4693-9C1C-96D50627453F}"/>
              </a:ext>
            </a:extLst>
          </p:cNvPr>
          <p:cNvSpPr/>
          <p:nvPr/>
        </p:nvSpPr>
        <p:spPr>
          <a:xfrm>
            <a:off x="763570" y="1801367"/>
            <a:ext cx="10664860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학습 성과가 구체적인지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잘못된 조작 및 선택에 학습적 피드백이 설계되어 있는지</a:t>
            </a:r>
          </a:p>
        </p:txBody>
      </p:sp>
    </p:spTree>
    <p:extLst>
      <p:ext uri="{BB962C8B-B14F-4D97-AF65-F5344CB8AC3E}">
        <p14:creationId xmlns:p14="http://schemas.microsoft.com/office/powerpoint/2010/main" val="1109833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5.</a:t>
            </a:r>
            <a:r>
              <a:rPr lang="ko-KR" altLang="en-US" dirty="0"/>
              <a:t> 구현 완성도 </a:t>
            </a:r>
            <a:r>
              <a:rPr lang="en-US" altLang="ko-KR" dirty="0"/>
              <a:t>(</a:t>
            </a:r>
            <a:r>
              <a:rPr lang="ko-KR" altLang="en-US" dirty="0"/>
              <a:t>자유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(6) </a:t>
            </a:r>
            <a:r>
              <a:rPr lang="ko-KR" altLang="en-US" dirty="0"/>
              <a:t>구현 완성도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0A4DB-E749-40E5-B9EC-0145A3C7CE55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 err="1">
                <a:solidFill>
                  <a:srgbClr val="243A5E"/>
                </a:solidFill>
              </a:rPr>
              <a:t>기상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기후</a:t>
            </a:r>
            <a:r>
              <a:rPr lang="ko-KR" altLang="en-US" sz="1600" b="1" dirty="0">
                <a:solidFill>
                  <a:srgbClr val="243A5E"/>
                </a:solidFill>
              </a:rPr>
              <a:t> 데이터 반영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453AF5-E513-4059-9547-7CB11C205D7D}"/>
              </a:ext>
            </a:extLst>
          </p:cNvPr>
          <p:cNvSpPr/>
          <p:nvPr/>
        </p:nvSpPr>
        <p:spPr>
          <a:xfrm>
            <a:off x="763570" y="1801367"/>
            <a:ext cx="5125166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어떤 기상</a:t>
            </a:r>
            <a:r>
              <a:rPr lang="en-US" altLang="ko-KR" sz="1200" dirty="0">
                <a:solidFill>
                  <a:schemeClr val="tx1"/>
                </a:solidFill>
              </a:rPr>
              <a:t>·</a:t>
            </a:r>
            <a:r>
              <a:rPr lang="ko-KR" altLang="en-US" sz="1200" dirty="0">
                <a:solidFill>
                  <a:schemeClr val="tx1"/>
                </a:solidFill>
              </a:rPr>
              <a:t>기후 데이터를 사용했는지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개발물에 실제로 반영</a:t>
            </a:r>
            <a:r>
              <a:rPr lang="en-US" altLang="ko-KR" sz="1200" dirty="0">
                <a:solidFill>
                  <a:schemeClr val="tx1"/>
                </a:solidFill>
              </a:rPr>
              <a:t>·</a:t>
            </a:r>
            <a:r>
              <a:rPr lang="ko-KR" altLang="en-US" sz="1200" dirty="0">
                <a:solidFill>
                  <a:schemeClr val="tx1"/>
                </a:solidFill>
              </a:rPr>
              <a:t>작동하는지 제시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8FA0BB-8FD3-432D-8721-19EAAD195D1E}"/>
              </a:ext>
            </a:extLst>
          </p:cNvPr>
          <p:cNvSpPr/>
          <p:nvPr/>
        </p:nvSpPr>
        <p:spPr>
          <a:xfrm>
            <a:off x="6303264" y="1801368"/>
            <a:ext cx="5125166" cy="4596706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제작 과정에서 </a:t>
            </a:r>
            <a:r>
              <a:rPr lang="en-US" altLang="ko-KR" sz="1200" dirty="0">
                <a:solidFill>
                  <a:schemeClr val="tx1"/>
                </a:solidFill>
              </a:rPr>
              <a:t>AI </a:t>
            </a:r>
            <a:r>
              <a:rPr lang="ko-KR" altLang="en-US" sz="1200" dirty="0">
                <a:solidFill>
                  <a:schemeClr val="tx1"/>
                </a:solidFill>
              </a:rPr>
              <a:t>도구 및 기술을 어떻게 효과적으로 적용했는지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E0E4E2-2FB2-49BF-8D48-DF916F2E6444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en-US" altLang="ko-KR" sz="1600" b="1" dirty="0">
                <a:solidFill>
                  <a:srgbClr val="243A5E"/>
                </a:solidFill>
              </a:rPr>
              <a:t>AI</a:t>
            </a:r>
            <a:r>
              <a:rPr lang="ko-KR" altLang="en-US" sz="1600" b="1" dirty="0">
                <a:solidFill>
                  <a:srgbClr val="243A5E"/>
                </a:solidFill>
              </a:rPr>
              <a:t> </a:t>
            </a:r>
            <a:r>
              <a:rPr lang="ko-KR" altLang="en-US" sz="1600" b="1" dirty="0" err="1">
                <a:solidFill>
                  <a:srgbClr val="243A5E"/>
                </a:solidFill>
              </a:rPr>
              <a:t>도구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기술</a:t>
            </a:r>
            <a:r>
              <a:rPr lang="ko-KR" altLang="en-US" sz="1600" b="1" dirty="0">
                <a:solidFill>
                  <a:srgbClr val="243A5E"/>
                </a:solidFill>
              </a:rPr>
              <a:t> 활용</a:t>
            </a:r>
            <a:endParaRPr lang="ko-KR" altLang="en-US" sz="1600" dirty="0">
              <a:solidFill>
                <a:srgbClr val="F3ECD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768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C94C8B-6635-459D-8AE2-AA77DAD66C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별지</a:t>
            </a:r>
            <a:r>
              <a:rPr lang="en-US" altLang="ko-KR" dirty="0"/>
              <a:t>1. </a:t>
            </a:r>
            <a:r>
              <a:rPr lang="ko-KR" altLang="en-US" dirty="0"/>
              <a:t>제출 전</a:t>
            </a:r>
            <a:r>
              <a:rPr lang="en-US" altLang="ko-KR" dirty="0"/>
              <a:t> </a:t>
            </a:r>
            <a:r>
              <a:rPr lang="ko-KR" altLang="en-US" dirty="0"/>
              <a:t>자가 점검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B36CE3-18C5-4CF1-8960-E07366EA3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6D5A82-5241-4B52-B0CE-3A729AFD20CF}"/>
              </a:ext>
            </a:extLst>
          </p:cNvPr>
          <p:cNvSpPr/>
          <p:nvPr/>
        </p:nvSpPr>
        <p:spPr>
          <a:xfrm>
            <a:off x="763570" y="1801369"/>
            <a:ext cx="10664862" cy="2039112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243A5E"/>
                </a:solidFill>
              </a:rPr>
              <a:t>구동 </a:t>
            </a:r>
            <a:r>
              <a:rPr lang="en-US" altLang="ko-KR" sz="2000" dirty="0">
                <a:solidFill>
                  <a:srgbClr val="243A5E"/>
                </a:solidFill>
              </a:rPr>
              <a:t>URL — </a:t>
            </a:r>
            <a:r>
              <a:rPr lang="ko-KR" altLang="en-US" sz="2000" dirty="0">
                <a:solidFill>
                  <a:srgbClr val="243A5E"/>
                </a:solidFill>
              </a:rPr>
              <a:t>로그인</a:t>
            </a:r>
            <a:r>
              <a:rPr lang="en-US" altLang="ko-KR" sz="2000" dirty="0">
                <a:solidFill>
                  <a:srgbClr val="243A5E"/>
                </a:solidFill>
              </a:rPr>
              <a:t>·</a:t>
            </a:r>
            <a:r>
              <a:rPr lang="ko-KR" altLang="en-US" sz="2000" dirty="0">
                <a:solidFill>
                  <a:srgbClr val="243A5E"/>
                </a:solidFill>
              </a:rPr>
              <a:t>결제 없이 크롬에서 열림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243A5E"/>
                </a:solidFill>
              </a:rPr>
              <a:t>소스코드 </a:t>
            </a:r>
            <a:r>
              <a:rPr lang="en-US" altLang="ko-KR" sz="2000" dirty="0">
                <a:solidFill>
                  <a:srgbClr val="243A5E"/>
                </a:solidFill>
              </a:rPr>
              <a:t>zip — API </a:t>
            </a:r>
            <a:r>
              <a:rPr lang="ko-KR" altLang="en-US" sz="2000" dirty="0">
                <a:solidFill>
                  <a:srgbClr val="243A5E"/>
                </a:solidFill>
              </a:rPr>
              <a:t>키</a:t>
            </a:r>
            <a:r>
              <a:rPr lang="en-US" altLang="ko-KR" sz="2000" dirty="0">
                <a:solidFill>
                  <a:srgbClr val="243A5E"/>
                </a:solidFill>
              </a:rPr>
              <a:t>·</a:t>
            </a:r>
            <a:r>
              <a:rPr lang="ko-KR" altLang="en-US" sz="2000" dirty="0" err="1">
                <a:solidFill>
                  <a:srgbClr val="243A5E"/>
                </a:solidFill>
              </a:rPr>
              <a:t>비밀값</a:t>
            </a:r>
            <a:r>
              <a:rPr lang="ko-KR" altLang="en-US" sz="2000" dirty="0">
                <a:solidFill>
                  <a:srgbClr val="243A5E"/>
                </a:solidFill>
              </a:rPr>
              <a:t> 노출 시 실격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243A5E"/>
                </a:solidFill>
              </a:rPr>
              <a:t>주요 프롬프트 세션 </a:t>
            </a:r>
            <a:r>
              <a:rPr lang="en-US" altLang="ko-KR" sz="2000" dirty="0">
                <a:solidFill>
                  <a:srgbClr val="243A5E"/>
                </a:solidFill>
              </a:rPr>
              <a:t>zip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43A5E"/>
                </a:solidFill>
              </a:rPr>
              <a:t>README — </a:t>
            </a:r>
            <a:r>
              <a:rPr lang="ko-KR" altLang="en-US" sz="2000" dirty="0" err="1">
                <a:solidFill>
                  <a:srgbClr val="243A5E"/>
                </a:solidFill>
              </a:rPr>
              <a:t>실행법</a:t>
            </a:r>
            <a:r>
              <a:rPr lang="ko-KR" altLang="en-US" sz="2000" dirty="0">
                <a:solidFill>
                  <a:srgbClr val="243A5E"/>
                </a:solidFill>
              </a:rPr>
              <a:t> </a:t>
            </a:r>
            <a:r>
              <a:rPr lang="en-US" altLang="ko-KR" sz="2000" dirty="0">
                <a:solidFill>
                  <a:srgbClr val="243A5E"/>
                </a:solidFill>
              </a:rPr>
              <a:t>+ </a:t>
            </a:r>
            <a:r>
              <a:rPr lang="ko-KR" altLang="en-US" sz="2000" dirty="0">
                <a:solidFill>
                  <a:srgbClr val="243A5E"/>
                </a:solidFill>
              </a:rPr>
              <a:t>외부 리소스 출처</a:t>
            </a:r>
            <a:r>
              <a:rPr lang="en-US" altLang="ko-KR" sz="2000" dirty="0">
                <a:solidFill>
                  <a:srgbClr val="243A5E"/>
                </a:solidFill>
              </a:rPr>
              <a:t>·</a:t>
            </a:r>
            <a:r>
              <a:rPr lang="ko-KR" altLang="en-US" sz="2000" dirty="0">
                <a:solidFill>
                  <a:srgbClr val="243A5E"/>
                </a:solidFill>
              </a:rPr>
              <a:t>라이선스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C5D8FE-5BB8-497C-803B-675D7FEE1224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제출물 </a:t>
            </a:r>
            <a:r>
              <a:rPr lang="en-US" altLang="ko-KR" sz="1600" b="1" dirty="0">
                <a:solidFill>
                  <a:srgbClr val="243A5E"/>
                </a:solidFill>
              </a:rPr>
              <a:t>4</a:t>
            </a:r>
            <a:r>
              <a:rPr lang="ko-KR" altLang="en-US" sz="1600" b="1" dirty="0">
                <a:solidFill>
                  <a:srgbClr val="243A5E"/>
                </a:solidFill>
              </a:rPr>
              <a:t>종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913C3-2063-4135-9191-8DD4AD2B4AAE}"/>
              </a:ext>
            </a:extLst>
          </p:cNvPr>
          <p:cNvSpPr txBox="1"/>
          <p:nvPr/>
        </p:nvSpPr>
        <p:spPr>
          <a:xfrm>
            <a:off x="763570" y="3915055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 err="1">
                <a:solidFill>
                  <a:srgbClr val="243A5E"/>
                </a:solidFill>
              </a:rPr>
              <a:t>실격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규정</a:t>
            </a:r>
            <a:r>
              <a:rPr lang="ko-KR" altLang="en-US" sz="1600" b="1" dirty="0">
                <a:solidFill>
                  <a:srgbClr val="243A5E"/>
                </a:solidFill>
              </a:rPr>
              <a:t> 위반 주의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831929D-F71B-4CDD-93FE-32CC9CF82F9C}"/>
              </a:ext>
            </a:extLst>
          </p:cNvPr>
          <p:cNvSpPr/>
          <p:nvPr/>
        </p:nvSpPr>
        <p:spPr>
          <a:xfrm>
            <a:off x="763570" y="4358962"/>
            <a:ext cx="10664862" cy="1787483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0000"/>
                </a:solidFill>
              </a:rPr>
              <a:t>API </a:t>
            </a:r>
            <a:r>
              <a:rPr lang="ko-KR" altLang="en-US" sz="2000" dirty="0">
                <a:solidFill>
                  <a:srgbClr val="FF0000"/>
                </a:solidFill>
              </a:rPr>
              <a:t>키</a:t>
            </a:r>
            <a:r>
              <a:rPr lang="en-US" altLang="ko-KR" sz="2000" dirty="0">
                <a:solidFill>
                  <a:srgbClr val="FF0000"/>
                </a:solidFill>
              </a:rPr>
              <a:t>·</a:t>
            </a:r>
            <a:r>
              <a:rPr lang="ko-KR" altLang="en-US" sz="2000" dirty="0" err="1">
                <a:solidFill>
                  <a:srgbClr val="FF0000"/>
                </a:solidFill>
              </a:rPr>
              <a:t>비밀값</a:t>
            </a:r>
            <a:r>
              <a:rPr lang="ko-KR" altLang="en-US" sz="2000" dirty="0">
                <a:solidFill>
                  <a:srgbClr val="FF0000"/>
                </a:solidFill>
              </a:rPr>
              <a:t> 노출 금지 </a:t>
            </a:r>
            <a:r>
              <a:rPr lang="en-US" altLang="ko-KR" sz="2000" dirty="0">
                <a:solidFill>
                  <a:srgbClr val="FF0000"/>
                </a:solidFill>
              </a:rPr>
              <a:t>— </a:t>
            </a:r>
            <a:r>
              <a:rPr lang="ko-KR" altLang="en-US" sz="2000" dirty="0">
                <a:solidFill>
                  <a:srgbClr val="FF0000"/>
                </a:solidFill>
              </a:rPr>
              <a:t>노출 시 실격 사유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FF0000"/>
                </a:solidFill>
              </a:rPr>
              <a:t>외부 리소스 출처</a:t>
            </a:r>
            <a:r>
              <a:rPr lang="en-US" altLang="ko-KR" sz="2000" dirty="0">
                <a:solidFill>
                  <a:srgbClr val="FF0000"/>
                </a:solidFill>
              </a:rPr>
              <a:t>·</a:t>
            </a:r>
            <a:r>
              <a:rPr lang="ko-KR" altLang="en-US" sz="2000" dirty="0">
                <a:solidFill>
                  <a:srgbClr val="FF0000"/>
                </a:solidFill>
              </a:rPr>
              <a:t>라이선스 표기 필수</a:t>
            </a:r>
            <a:r>
              <a:rPr lang="en-US" altLang="ko-KR" sz="2000" dirty="0">
                <a:solidFill>
                  <a:srgbClr val="FF0000"/>
                </a:solidFill>
              </a:rPr>
              <a:t>(Pass/Fail)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 err="1">
                <a:solidFill>
                  <a:srgbClr val="FF0000"/>
                </a:solidFill>
              </a:rPr>
              <a:t>미표기</a:t>
            </a:r>
            <a:r>
              <a:rPr lang="en-US" altLang="ko-KR" sz="2000" dirty="0">
                <a:solidFill>
                  <a:srgbClr val="FF0000"/>
                </a:solidFill>
              </a:rPr>
              <a:t>·</a:t>
            </a:r>
            <a:r>
              <a:rPr lang="ko-KR" altLang="en-US" sz="2000" dirty="0">
                <a:solidFill>
                  <a:srgbClr val="FF0000"/>
                </a:solidFill>
              </a:rPr>
              <a:t>위반은 규정 위반 트랙 처리</a:t>
            </a:r>
          </a:p>
        </p:txBody>
      </p:sp>
    </p:spTree>
    <p:extLst>
      <p:ext uri="{BB962C8B-B14F-4D97-AF65-F5344CB8AC3E}">
        <p14:creationId xmlns:p14="http://schemas.microsoft.com/office/powerpoint/2010/main" val="3976547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207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513</TotalTime>
  <Words>807</Words>
  <Application>Microsoft Office PowerPoint</Application>
  <PresentationFormat>와이드스크린</PresentationFormat>
  <Paragraphs>127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맑은 고딕</vt:lpstr>
      <vt:lpstr>페이퍼로지 8 ExtraBold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38</cp:revision>
  <cp:lastPrinted>2026-07-31T07:23:24Z</cp:lastPrinted>
  <dcterms:created xsi:type="dcterms:W3CDTF">2026-07-24T07:24:55Z</dcterms:created>
  <dcterms:modified xsi:type="dcterms:W3CDTF">2026-07-31T08:51:00Z</dcterms:modified>
</cp:coreProperties>
</file>