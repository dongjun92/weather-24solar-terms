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61" r:id="rId6"/>
    <p:sldId id="260" r:id="rId7"/>
    <p:sldId id="282" r:id="rId8"/>
    <p:sldId id="283" r:id="rId9"/>
    <p:sldId id="284" r:id="rId10"/>
    <p:sldId id="285" r:id="rId11"/>
    <p:sldId id="286" r:id="rId12"/>
    <p:sldId id="268" r:id="rId14"/>
  </p:sldIdLst>
  <p:sldSz cx="12192000" cy="6858000"/>
  <p:notesSz cx="9926638" cy="679767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A5E"/>
    <a:srgbClr val="F3ECDC"/>
    <a:srgbClr val="E76F51"/>
    <a:srgbClr val="EFF5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85" d="100"/>
          <a:sy n="85" d="100"/>
        </p:scale>
        <p:origin x="59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8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DB0704-418A-42A8-B767-71FC43B0918A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924175" y="849313"/>
            <a:ext cx="4078288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4" y="3271381"/>
            <a:ext cx="794131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8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9E997E-8190-4D82-86DC-FE0D784C84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1852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24절기는 태양 위치로 정한 천문 날짜입니다. 움직이지 않습니다.</a:t>
            </a:r>
          </a:p>
          <a:p>
            <a:r>
              <a:t>그런데 그 무렵의 날씨는 움직입니다. 이 앱은 그 두 축을 학생이 직접 비교하게 합니다.</a:t>
            </a:r>
          </a:p>
          <a:p>
            <a:r>
              <a:t>지금 이 URL을 열면 로그인 없이 바로 만질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팀입니다. 기획부터 배포·검증까지 단독 수행했고, 생성형 AI를 개발 파트너로 상시 썼습니다.</a:t>
            </a:r>
          </a:p>
          <a:p>
            <a:r>
              <a:t>한 미션은 예측 봉인 → 직접 조작 → 내 결론 세 단계입니다. 미션 1은 16화면입니다.</a:t>
            </a:r>
          </a:p>
          <a:p>
            <a:r>
              <a:t>데이터는 기상청 ASOS 종관기상관측 일자료입니다. 16지점 × 24절기 × 3지표.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대상은 중3~고2입니다. 세 가지 근거로 골랐습니다.</a:t>
            </a:r>
          </a:p>
          <a:p>
            <a:r>
              <a:t>첫째, 교육과정에서 기후변화와 자료 해석 성취기준이 배치되는 학년입니다.</a:t>
            </a:r>
          </a:p>
          <a:p>
            <a:r>
              <a:t>둘째, 임계값 개념과 평균·빈도 구분이 가능한 최소 학년입니다.</a:t>
            </a:r>
          </a:p>
          <a:p>
            <a:r>
              <a:t>셋째, 24절기를 생활에서 들어는 봤지만 천문 기준임은 배우지 않은 상태라 오개념 교정 여지가 가장 큽니다.</a:t>
            </a:r>
          </a:p>
          <a:p>
            <a:r>
              <a:t>난이도는 용어를 세 단으로 올려 맞췄습니다. 생활어로 시작해 조작어를 거쳐 학술어까지 갑니다. 수식은 끝까지 노출하지 않습니다.</a:t>
            </a:r>
          </a:p>
          <a:p>
            <a:r>
              <a:t>필수 경로는 5개 미션이고, 실험실·전국지도·비교구간은 선택 분기입니다. 교사용 학습지를 함께 제공합니다.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문제는 절기·날씨·기후를 섞어 말하는 것입니다. “처서가 더워졌다”는 천문 날짜에 기온을 귀속하는 오개념입니다.</a:t>
            </a:r>
          </a:p>
          <a:p>
            <a:r>
              <a:t>개발계획서에 적은 다섯 개념이 각각 어느 화면에서 다뤄지는지 좌측에 대조했습니다.</a:t>
            </a:r>
          </a:p>
          <a:p>
            <a:r>
              <a:t>확장 개념인 태풍·위성 비교는 학습 초점을 흐리지 않기 위해 배포본에서 제외했고, README에 미사용을 명시했습니다.</a:t>
            </a:r>
          </a:p>
          <a:p>
            <a:r>
              <a:t>우측은 학습자가 체험 중에 주제를 인식하는 지점입니다. 문구는 화면에 실제로 있는 것을 그대로 인용했습니다.</a:t>
            </a:r>
          </a:p>
          <a:p>
            <a:r>
              <a:t>특히 개념 렌즈 마지막 문항은 “절기를 기후에 맞춰 옮기자”는 오개념을 직접 판별합니다.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차별화는 실측과 모형을 한 앱에 넣은 것입니다. 2×2로 보면 두 축을 모두 가진 칸이 비어 있었습니다.</a:t>
            </a:r>
          </a:p>
          <a:p>
            <a:r>
              <a:t>PhET·En-ROADS는 모형만 있고 실측 대조가 없습니다. 기후 스트라이프나 기상자료개방포털은 실측만 있고 조작 학습이 없습니다.</a:t>
            </a:r>
          </a:p>
          <a:p>
            <a:r>
              <a:t>24절기를 쓴 이유는 학습자가 이미 알고 있다는 점입니다. 아는 것이라야 “틀렸을 수도 있다”는 반증 동기가 생깁니다.</a:t>
            </a:r>
          </a:p>
          <a:p>
            <a:r>
              <a:t>우측 루프에서 ③번이 핵심입니다. 예측을 봉인만 하는 앱은 많지만, 봉인한 예측을 다시 꺼내 자료와 대조하는 곳은 드뭅니다.</a:t>
            </a:r>
          </a:p>
          <a:p>
            <a:r>
              <a:t>어긋났을 때 “어긋난 지점이 배울 곳입니다”라고 명시합니다.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표가 이 앱의 핵심입니다. 기준선 하나를 옮기면 아래 숫자가 즉시 다시 계산됩니다.</a:t>
            </a:r>
          </a:p>
          <a:p>
            <a:r>
              <a:t>25도로 보면 더위일이 31일에서 68일로, 더위가 그치는 날이 8월 30일에서 9월 12일로 13일 늦어집니다.</a:t>
            </a:r>
          </a:p>
          <a:p>
            <a:r>
              <a:t>28도로 올리면 격차가 21일로 커집니다. 같은 자료인데 기준을 바꾸면 결론이 달라집니다.</a:t>
            </a:r>
          </a:p>
          <a:p>
            <a:r>
              <a:t>33도까지 올리면 과거·현재 모두 0일이 되어 비교할 것이 남지 않습니다. 그때 앱이 그 자리에서 알려 줍니다.</a:t>
            </a:r>
          </a:p>
          <a:p>
            <a:r>
              <a:t>이것이 “모호한 말은 기준을 정해야 자료가 된다”를 몸으로 배우는 방식입니다.</a:t>
            </a:r>
          </a:p>
          <a:p>
            <a:r>
              <a:t>기준선을 만지지 않으면 판정 버튼이 잠깁니다. 클릭만으로는 통과할 수 없습니다.</a:t>
            </a:r>
          </a:p>
          <a:p>
            <a:r>
              <a:t>우측 지도는 한 지역의 결과를 전국으로 넓힐 수 없다는 것을 눈으로 확인하는 보기입니다.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성과는 완료 화면 ‘내 기록’으로 회수됩니다. 교사가 그대로 채점 근거로 씁니다.</a:t>
            </a:r>
          </a:p>
          <a:p>
            <a:r>
              <a:t>배점표가 요구하는 “잘못된 조작·선택에 대한 학습적 피드백”은 여섯 가지로 설계했습니다.</a:t>
            </a:r>
          </a:p>
          <a:p>
            <a:r>
              <a:t>핵심 원칙은 오답에 정답을 바로 알려 주지 않는 것입니다. 1차 오답이면 정답을 감추고 자료로 되돌립니다.</a:t>
            </a:r>
          </a:p>
          <a:p>
            <a:r>
              <a:t>기준을 극단으로 올려 비교가 불가능해지면, 판정을 누르기 전에 조작 화면에서 그 자리에서 알려 줍니다.</a:t>
            </a:r>
          </a:p>
          <a:p>
            <a:r>
              <a:t>내 결론 칸에도 내용 요건이 있습니다. 근거에는 단위가, 한계에는 범위를 가리키는 말이 있어야 통과합니다.</a:t>
            </a:r>
          </a:p>
          <a:p>
            <a:r>
              <a:t>문장을 복사하거나 화면 안내문을 베끼면 걸립니다.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데이터는 기상청 ASOS 일자료입니다. 1969년부터 2026년까지, 16지점 3지표입니다.</a:t>
            </a:r>
          </a:p>
          <a:p>
            <a:r>
              <a:t>중요한 것은 사전 계산한 이미지가 아니라는 점입니다. 조작하면 그 자리에서 다시 계산합니다.</a:t>
            </a:r>
          </a:p>
          <a:p>
            <a:r>
              <a:t>자동 회귀 검증 8,360건이 매 커밋 돌아갑니다. 데이터 8,213건과 문서 정합성 147건입니다.</a:t>
            </a:r>
          </a:p>
          <a:p>
            <a:r>
              <a:t>우측은 제품 안의 AI입니다. 일부러 과장한 결론을 넣으면 지역 확대와 인과 단정을 둘 다 잡습니다.</a:t>
            </a:r>
          </a:p>
          <a:p>
            <a:r>
              <a:t>이 응답은 배포본에서 실제로 받은 것입니다.</a:t>
            </a:r>
          </a:p>
          <a:p>
            <a:r>
              <a:t>AI가 실패하면 기기 안 규칙 점검으로 넘어가 학습은 항상 완결됩니다.</a:t>
            </a:r>
          </a:p>
          <a:p>
            <a:r>
              <a:t>제작 과정에서도 AI를 썼습니다. 여섯 차례 AI 레드팀으로 제 결과물을 공격하게 하고 전량 수정했습니다.</a:t>
            </a:r>
          </a:p>
          <a:p>
            <a:r>
              <a:t>프롬프트 세션 원문 6건을 제출물에 넣었습니다.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주시면 앱을 직접 열어 보여 드리겠습니다.</a:t>
            </a:r>
          </a:p>
          <a:p>
            <a:r>
              <a:t>기준선을 옮기면 숫자가 어떻게 바뀌는지, 극단으로 올리면 앱이 어떻게 한계를 인정하는지 보실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31AEB8F-97AB-4D52-9978-85C6494D41E0}"/>
              </a:ext>
            </a:extLst>
          </p:cNvPr>
          <p:cNvSpPr txBox="1"/>
          <p:nvPr userDrawn="1"/>
        </p:nvSpPr>
        <p:spPr>
          <a:xfrm>
            <a:off x="1354157" y="1653313"/>
            <a:ext cx="94836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기상</a:t>
            </a:r>
            <a:r>
              <a:rPr lang="ko-KR" altLang="en-US" sz="5400" b="1" dirty="0" err="1"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기후</a:t>
            </a:r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en-US" altLang="ko-KR" sz="5400" b="1" dirty="0">
                <a:solidFill>
                  <a:schemeClr val="bg1"/>
                </a:solidFill>
                <a:latin typeface="+mj-ea"/>
                <a:ea typeface="+mj-ea"/>
              </a:rPr>
              <a:t>AI </a:t>
            </a:r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해커톤</a:t>
            </a:r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 경진대회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C5123A-5876-4A69-91B8-D4D5182FF61C}"/>
              </a:ext>
            </a:extLst>
          </p:cNvPr>
          <p:cNvSpPr txBox="1"/>
          <p:nvPr userDrawn="1"/>
        </p:nvSpPr>
        <p:spPr>
          <a:xfrm>
            <a:off x="1517801" y="3501204"/>
            <a:ext cx="16257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프로젝트명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BC3B1A-711B-4C9C-A54E-C1F461C74791}"/>
              </a:ext>
            </a:extLst>
          </p:cNvPr>
          <p:cNvSpPr txBox="1"/>
          <p:nvPr userDrawn="1"/>
        </p:nvSpPr>
        <p:spPr>
          <a:xfrm>
            <a:off x="1517801" y="4122113"/>
            <a:ext cx="8563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 err="1">
                <a:solidFill>
                  <a:srgbClr val="F3ECDC"/>
                </a:solidFill>
                <a:latin typeface="+mj-ea"/>
                <a:ea typeface="+mj-ea"/>
              </a:rPr>
              <a:t>팀명</a:t>
            </a:r>
            <a:endParaRPr lang="ko-KR" altLang="en-US" sz="2000" b="0" dirty="0">
              <a:solidFill>
                <a:srgbClr val="F3ECDC"/>
              </a:solidFill>
              <a:latin typeface="+mj-ea"/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0C9A37-82F9-48F4-B02D-008F91CCD2E3}"/>
              </a:ext>
            </a:extLst>
          </p:cNvPr>
          <p:cNvSpPr txBox="1"/>
          <p:nvPr userDrawn="1"/>
        </p:nvSpPr>
        <p:spPr>
          <a:xfrm>
            <a:off x="1517801" y="4743022"/>
            <a:ext cx="16626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결과물 </a:t>
            </a:r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URL</a:t>
            </a:r>
            <a:endParaRPr lang="ko-KR" altLang="en-US" sz="2000" b="0" dirty="0">
              <a:solidFill>
                <a:srgbClr val="F3ECDC"/>
              </a:solidFill>
              <a:latin typeface="+mj-ea"/>
              <a:ea typeface="+mj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95C146-79C6-43F2-B429-1E96AF12F936}"/>
              </a:ext>
            </a:extLst>
          </p:cNvPr>
          <p:cNvSpPr txBox="1"/>
          <p:nvPr userDrawn="1"/>
        </p:nvSpPr>
        <p:spPr>
          <a:xfrm>
            <a:off x="1517801" y="5363930"/>
            <a:ext cx="11128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발표자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C7A9BE40-1B9A-44EC-815C-CDB3DDB49A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6323" y="3515502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D700112A-8E80-4A44-8018-E7FBCDB209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96323" y="4136411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7" name="텍스트 개체 틀 14">
            <a:extLst>
              <a:ext uri="{FF2B5EF4-FFF2-40B4-BE49-F238E27FC236}">
                <a16:creationId xmlns:a16="http://schemas.microsoft.com/office/drawing/2014/main" id="{ADEC1D49-B4EB-4025-8B2B-0F584C025A9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596323" y="4763583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 및 표지 필수 기재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텍스트 개체 틀 14">
            <a:extLst>
              <a:ext uri="{FF2B5EF4-FFF2-40B4-BE49-F238E27FC236}">
                <a16:creationId xmlns:a16="http://schemas.microsoft.com/office/drawing/2014/main" id="{09F741B2-080E-47F6-BE11-888EAA85F5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6323" y="5378228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0C8CF79-29FC-4E04-B206-41380B6F87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937" y="6053676"/>
            <a:ext cx="2374126" cy="569790"/>
          </a:xfrm>
          <a:prstGeom prst="rect">
            <a:avLst/>
          </a:prstGeom>
        </p:spPr>
      </p:pic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97E97659-1623-40B7-BB80-CFF3954A80C2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6B409B54-59B6-4512-9C77-FCEE38C684D4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F23030E-3450-4E6E-981D-F738A0B4A794}"/>
              </a:ext>
            </a:extLst>
          </p:cNvPr>
          <p:cNvSpPr/>
          <p:nvPr userDrawn="1"/>
        </p:nvSpPr>
        <p:spPr>
          <a:xfrm>
            <a:off x="1517800" y="2606369"/>
            <a:ext cx="915640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01610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438" userDrawn="1">
          <p15:clr>
            <a:srgbClr val="FBAE40"/>
          </p15:clr>
        </p15:guide>
        <p15:guide id="4" pos="7242" userDrawn="1">
          <p15:clr>
            <a:srgbClr val="FBAE40"/>
          </p15:clr>
        </p15:guide>
        <p15:guide id="5" orient="horz" pos="346" userDrawn="1">
          <p15:clr>
            <a:srgbClr val="FBAE40"/>
          </p15:clr>
        </p15:guide>
        <p15:guide id="6" orient="horz" pos="2160" userDrawn="1">
          <p15:clr>
            <a:srgbClr val="FBAE40"/>
          </p15:clr>
        </p15:guide>
        <p15:guide id="7" pos="211" userDrawn="1">
          <p15:clr>
            <a:srgbClr val="FBAE40"/>
          </p15:clr>
        </p15:guide>
        <p15:guide id="8" pos="7469" userDrawn="1">
          <p15:clr>
            <a:srgbClr val="FBAE40"/>
          </p15:clr>
        </p15:guide>
        <p15:guide id="9" orient="horz" pos="415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슬라이드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C0C8CF79-29FC-4E04-B206-41380B6F87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937" y="6053676"/>
            <a:ext cx="2374126" cy="569790"/>
          </a:xfrm>
          <a:prstGeom prst="rect">
            <a:avLst/>
          </a:prstGeom>
        </p:spPr>
      </p:pic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97E97659-1623-40B7-BB80-CFF3954A80C2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6B409B54-59B6-4512-9C77-FCEE38C684D4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71D16D-A60E-436E-8DFD-19757DBA4EB5}"/>
              </a:ext>
            </a:extLst>
          </p:cNvPr>
          <p:cNvSpPr txBox="1"/>
          <p:nvPr userDrawn="1"/>
        </p:nvSpPr>
        <p:spPr>
          <a:xfrm>
            <a:off x="4272424" y="2505670"/>
            <a:ext cx="36471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감사합니다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A8B0727-89E1-4E63-A27D-0AD368A2F4CB}"/>
              </a:ext>
            </a:extLst>
          </p:cNvPr>
          <p:cNvSpPr/>
          <p:nvPr userDrawn="1"/>
        </p:nvSpPr>
        <p:spPr>
          <a:xfrm>
            <a:off x="4198070" y="3458726"/>
            <a:ext cx="379586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6C76A7-A708-47A5-B184-A260C6B97D1B}"/>
              </a:ext>
            </a:extLst>
          </p:cNvPr>
          <p:cNvSpPr txBox="1"/>
          <p:nvPr userDrawn="1"/>
        </p:nvSpPr>
        <p:spPr>
          <a:xfrm>
            <a:off x="4875153" y="3896636"/>
            <a:ext cx="24416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400" b="0" dirty="0">
                <a:solidFill>
                  <a:srgbClr val="F3ECDC"/>
                </a:solidFill>
                <a:latin typeface="+mj-ea"/>
                <a:ea typeface="+mj-ea"/>
              </a:rPr>
              <a:t>질의응답</a:t>
            </a:r>
          </a:p>
        </p:txBody>
      </p:sp>
    </p:spTree>
    <p:extLst>
      <p:ext uri="{BB962C8B-B14F-4D97-AF65-F5344CB8AC3E}">
        <p14:creationId xmlns:p14="http://schemas.microsoft.com/office/powerpoint/2010/main" val="40901125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orient="horz" pos="216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  <p15:guide id="9" orient="horz" pos="415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팀 및 결과물 기본 정보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D98DDD3F-FB3F-4F18-839F-C29BDCC32F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5921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6DDB0E97-6316-4A0C-B265-BD114253FD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14">
            <a:extLst>
              <a:ext uri="{FF2B5EF4-FFF2-40B4-BE49-F238E27FC236}">
                <a16:creationId xmlns:a16="http://schemas.microsoft.com/office/drawing/2014/main" id="{11FE98CB-41F7-4DD0-8F02-1B92269A99A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4" y="233162"/>
            <a:ext cx="6544461" cy="3161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1600" b="1">
                <a:solidFill>
                  <a:srgbClr val="E76F5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</p:spTree>
    <p:extLst>
      <p:ext uri="{BB962C8B-B14F-4D97-AF65-F5344CB8AC3E}">
        <p14:creationId xmlns:p14="http://schemas.microsoft.com/office/powerpoint/2010/main" val="274993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EAE4AA64-0452-4EC4-AA5F-1BE587C4F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14">
            <a:extLst>
              <a:ext uri="{FF2B5EF4-FFF2-40B4-BE49-F238E27FC236}">
                <a16:creationId xmlns:a16="http://schemas.microsoft.com/office/drawing/2014/main" id="{7FE64648-02D4-45B0-8606-7020E78DD6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4" y="233162"/>
            <a:ext cx="6544461" cy="3161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1600" b="1">
                <a:solidFill>
                  <a:srgbClr val="E76F5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</p:spTree>
    <p:extLst>
      <p:ext uri="{BB962C8B-B14F-4D97-AF65-F5344CB8AC3E}">
        <p14:creationId xmlns:p14="http://schemas.microsoft.com/office/powerpoint/2010/main" val="2989276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387E9C-A654-4F17-8BEE-06563E6786FF}"/>
              </a:ext>
            </a:extLst>
          </p:cNvPr>
          <p:cNvSpPr txBox="1"/>
          <p:nvPr userDrawn="1"/>
        </p:nvSpPr>
        <p:spPr>
          <a:xfrm>
            <a:off x="1811517" y="6196387"/>
            <a:ext cx="8568967" cy="423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1600" dirty="0">
                <a:solidFill>
                  <a:srgbClr val="FF0000"/>
                </a:solidFill>
              </a:rPr>
              <a:t>해당 슬라이드는 발표자료 제출 시 삭제 후 제출 바랍니다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8" name="슬라이드 번호 개체 틀 5">
            <a:extLst>
              <a:ext uri="{FF2B5EF4-FFF2-40B4-BE49-F238E27FC236}">
                <a16:creationId xmlns:a16="http://schemas.microsoft.com/office/drawing/2014/main" id="{57895F8A-EC22-44D0-8B1B-87A20C8924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76839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D67970-E004-4559-8E24-E6B3B8906483}"/>
              </a:ext>
            </a:extLst>
          </p:cNvPr>
          <p:cNvSpPr txBox="1"/>
          <p:nvPr userDrawn="1"/>
        </p:nvSpPr>
        <p:spPr>
          <a:xfrm>
            <a:off x="695325" y="667376"/>
            <a:ext cx="34868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400" b="1" dirty="0">
                <a:solidFill>
                  <a:srgbClr val="243A5E"/>
                </a:solidFill>
                <a:latin typeface="+mj-ea"/>
                <a:ea typeface="+mj-ea"/>
              </a:rPr>
              <a:t>I </a:t>
            </a:r>
            <a:r>
              <a:rPr lang="ko-KR" altLang="en-US" sz="2400" b="1" dirty="0">
                <a:solidFill>
                  <a:srgbClr val="243A5E"/>
                </a:solidFill>
                <a:latin typeface="+mj-ea"/>
                <a:ea typeface="+mj-ea"/>
              </a:rPr>
              <a:t>발표 자료 가이드 라인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77ACDA-41BD-4F81-B47D-36F3F0EED278}"/>
              </a:ext>
            </a:extLst>
          </p:cNvPr>
          <p:cNvSpPr txBox="1"/>
          <p:nvPr userDrawn="1"/>
        </p:nvSpPr>
        <p:spPr>
          <a:xfrm>
            <a:off x="1811517" y="6196387"/>
            <a:ext cx="8568967" cy="423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1600" dirty="0">
                <a:solidFill>
                  <a:srgbClr val="FF0000"/>
                </a:solidFill>
              </a:rPr>
              <a:t>해당 슬라이드는 발표자료 제출 시 삭제 후 제출 바랍니다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17" name="슬라이드 번호 개체 틀 5">
            <a:extLst>
              <a:ext uri="{FF2B5EF4-FFF2-40B4-BE49-F238E27FC236}">
                <a16:creationId xmlns:a16="http://schemas.microsoft.com/office/drawing/2014/main" id="{42C6C439-B5BD-4294-9193-AAA46B502A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059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57721D-3748-4F22-935E-59022A261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3BD5AD-BBA7-4B77-A43A-29AF35656A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F61F4A-886A-4754-899D-7B35E9376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775C46-0311-4688-9CA5-7847BCE39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659C4D-CFC2-4C3C-8DB8-5710BEED6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5976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EF282-9284-40F9-9DEB-E1E9D1CBB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81ED96F-33B4-4E8C-A426-2BCA46C7B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11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23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3pPr>
            <a:lvl4pPr marL="13716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5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6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8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121BD3-8D5D-41EE-AC33-C61BFA273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82456C-F7A3-412C-BCEC-A32CC4ABB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FF49CB-E06A-4D36-B52E-BF4A2CFFF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9299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A94528-83D7-46FD-9AC8-665694F2A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505D25-A6A4-48F0-A862-ECF2E7BC80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712EE4-53D5-45EA-BED3-FD991C9168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501DDFE-134E-42D1-BB98-29F8F114B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1F9AB72-1B66-44A1-9805-44A7C856B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2D2497-C25D-470D-92CA-C039E8789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62035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2A2287-3A24-4A9B-A25C-531CC2640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7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6FB798-5B87-4DD3-94D6-BEFC388CDA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A2DFEC1-F453-4A2E-A832-DEED2000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0371965-04E9-436F-B256-D1401C6535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1F59A6-D04C-4F7E-9946-599FA5E875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A5017B9-CCA4-42F7-B39F-FFF2CE730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B15B95-5DD7-4399-8EBC-FA0DA6498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93FF6A-3BA0-4773-8398-722E07C35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90506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170173-A86C-487C-A787-FF29ACA93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635E747-9B22-41B0-8718-C277D12D4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9540313-FB3C-4C0E-80BC-E8B653647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9761E5-6E32-4B78-8E21-9398D7283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63381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0504F72-5EE4-42BC-A125-51B4FF186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F580218-30C8-4F48-B7E0-09D1497E6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77B4D-3229-48D0-A626-3703A0C2E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3429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9E0F5B-8895-426F-B5C5-52CFB3F8D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786C6F-BE04-4F13-BEC6-E0EAEDCE1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9AE29C7-041E-4A84-AE5D-269ACD808F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6DDF39-D622-4A00-9F7B-0CCAA6C34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FAC52D2-2DE1-476F-8614-DA7D54B0E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4E2CC28-BBA0-4F98-856B-30A1FE5CF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97834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51DCCD-97CD-48C5-9C72-A9CDB50A9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355B30-69BD-4F2B-9EF6-B2B1A38EC3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11" indent="0">
              <a:buNone/>
              <a:defRPr sz="2800"/>
            </a:lvl2pPr>
            <a:lvl3pPr marL="914423" indent="0">
              <a:buNone/>
              <a:defRPr sz="2400"/>
            </a:lvl3pPr>
            <a:lvl4pPr marL="1371634" indent="0">
              <a:buNone/>
              <a:defRPr sz="2000"/>
            </a:lvl4pPr>
            <a:lvl5pPr marL="1828846" indent="0">
              <a:buNone/>
              <a:defRPr sz="2000"/>
            </a:lvl5pPr>
            <a:lvl6pPr marL="2286057" indent="0">
              <a:buNone/>
              <a:defRPr sz="2000"/>
            </a:lvl6pPr>
            <a:lvl7pPr marL="2743269" indent="0">
              <a:buNone/>
              <a:defRPr sz="2000"/>
            </a:lvl7pPr>
            <a:lvl8pPr marL="3200480" indent="0">
              <a:buNone/>
              <a:defRPr sz="2000"/>
            </a:lvl8pPr>
            <a:lvl9pPr marL="3657691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439DBE-EC05-4A3C-AB44-24C354CEB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6C58D7-4282-4696-9A7D-B3EC9338F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CACE517-5683-4E62-90F7-4669A241F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61E488-DDB4-4992-B7BB-3862EA94F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5967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870F54-4970-4D4D-951B-C8E2B9D08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D152613-2EE1-492C-B78C-E20142F2A6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32238-F504-4187-9E88-D5398C29E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D3F913-FBC0-425B-B90D-A6B047850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7FB53F-D184-4BEE-B37A-04B8B52C3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97868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BEB6B8F-8EC3-45A6-942F-CAAEE7E76B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F1181A-43D6-4990-AF25-41F9E5EBDC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8DB4D7-5165-4439-B29F-2DDD7DCF0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0A07BB-E505-454E-BC13-482524C20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617651-7F62-4663-9FA8-E32951CD5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9429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9E973C7-576A-4EBA-A6B8-8356D8D18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EDB594-0434-4770-B5CD-47382B60B7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0FE65D-BC72-4133-B8FD-F2CEC7D99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DDCC6F-9151-45BF-9AC8-E56F083612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7C69-832B-493D-A1F5-06B01782B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784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5" r:id="rId2"/>
    <p:sldLayoutId id="2147483663" r:id="rId3"/>
    <p:sldLayoutId id="2147483661" r:id="rId4"/>
    <p:sldLayoutId id="2147483664" r:id="rId5"/>
    <p:sldLayoutId id="2147483666" r:id="rId6"/>
    <p:sldLayoutId id="2147483667" r:id="rId7"/>
    <p:sldLayoutId id="2147483650" r:id="rId8"/>
    <p:sldLayoutId id="2147483651" r:id="rId9"/>
    <p:sldLayoutId id="2147483652" r:id="rId10"/>
    <p:sldLayoutId id="2147483653" r:id="rId11"/>
    <p:sldLayoutId id="2147483654" r:id="rId12"/>
    <p:sldLayoutId id="2147483655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l" defTabSz="914423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3" rtl="0" eaLnBrk="1" latinLnBrk="1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8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9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1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3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5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8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4D265396-D6A5-4E03-B4DF-ACA0FECB2EF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Weather24 — 절기, 아직 맞을까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77D18B4-3BB8-416E-9C54-F3174EE5C2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팀 Weather24 (1인 팀)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715EE85F-2DED-4DDE-B24D-6321F38D82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https://weather-24solar-terms.vercel.app</a:t>
            </a:r>
            <a:endParaRPr lang="ko-KR" altLang="en-US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EDDB9B2A-74DB-4588-A828-D5E52F5C53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신동준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172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3E44EC2-EFEC-4FD7-B852-DC26E5339E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 </a:t>
            </a:r>
            <a:r>
              <a:rPr lang="ko-KR" altLang="en-US" dirty="0"/>
              <a:t>결과물 및 팀 기본 정보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C2B8884-3C95-4B01-9701-49C80C6C5A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6647369"/>
              </p:ext>
            </p:extLst>
          </p:nvPr>
        </p:nvGraphicFramePr>
        <p:xfrm>
          <a:off x="695325" y="1834221"/>
          <a:ext cx="5912866" cy="4474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3285">
                  <a:extLst>
                    <a:ext uri="{9D8B030D-6E8A-4147-A177-3AD203B41FA5}">
                      <a16:colId xmlns:a16="http://schemas.microsoft.com/office/drawing/2014/main" val="586554776"/>
                    </a:ext>
                  </a:extLst>
                </a:gridCol>
                <a:gridCol w="4539581">
                  <a:extLst>
                    <a:ext uri="{9D8B030D-6E8A-4147-A177-3AD203B41FA5}">
                      <a16:colId xmlns:a16="http://schemas.microsoft.com/office/drawing/2014/main" val="969126144"/>
                    </a:ext>
                  </a:extLst>
                </a:gridCol>
              </a:tblGrid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팀 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팀 Weather24 (1인 팀)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2287245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프로젝트명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Weather24 — 절기, 아직 맞을까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1726789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결과물 접속 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URL</a:t>
                      </a:r>
                      <a:endParaRPr lang="ko-KR" altLang="en-US" sz="1200" b="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https://weather-24solar-terms.vercel.app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0283240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한 줄 소개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중·고생이 ‘덥다’ 기준을 정해 24절기를 실측 검증하는 기후 학습 웹앱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402205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A48080B-6C64-460A-B146-BE3F10BF41DA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결과물 기본 정보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F5F249-7C5F-41C6-B25B-769B40D71A76}"/>
              </a:ext>
            </a:extLst>
          </p:cNvPr>
          <p:cNvSpPr txBox="1"/>
          <p:nvPr/>
        </p:nvSpPr>
        <p:spPr>
          <a:xfrm>
            <a:off x="6931843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팀</a:t>
            </a:r>
            <a:r>
              <a:rPr lang="en-US" altLang="ko-KR" sz="1600" b="1" dirty="0">
                <a:solidFill>
                  <a:srgbClr val="243A5E"/>
                </a:solidFill>
              </a:rPr>
              <a:t>(</a:t>
            </a:r>
            <a:r>
              <a:rPr lang="ko-KR" altLang="en-US" sz="1600" b="1" dirty="0">
                <a:solidFill>
                  <a:srgbClr val="243A5E"/>
                </a:solidFill>
              </a:rPr>
              <a:t>원</a:t>
            </a:r>
            <a:r>
              <a:rPr lang="en-US" altLang="ko-KR" sz="1600" b="1" dirty="0">
                <a:solidFill>
                  <a:srgbClr val="243A5E"/>
                </a:solidFill>
              </a:rPr>
              <a:t>) </a:t>
            </a:r>
            <a:r>
              <a:rPr lang="ko-KR" altLang="en-US" sz="1600" b="1" dirty="0">
                <a:solidFill>
                  <a:srgbClr val="243A5E"/>
                </a:solidFill>
              </a:rPr>
              <a:t>기본 정보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D8A93D-B596-453E-B7AD-10652D7A9AFA}"/>
              </a:ext>
            </a:extLst>
          </p:cNvPr>
          <p:cNvSpPr txBox="1"/>
          <p:nvPr/>
        </p:nvSpPr>
        <p:spPr>
          <a:xfrm>
            <a:off x="7145515" y="1726793"/>
            <a:ext cx="3714163" cy="1900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신동준 / 기획·개발·데이터·디자인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※ 1인 팀 — 단독 수행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134E886-5123-4BC2-B466-2D03FCDE90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7178040" y="3310128"/>
            <a:ext cx="39319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학습 흐름 — 한 미션의 뼈대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232903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F3ECDC"/>
                </a:solidFill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2903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예측 봉인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2903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F3ECDC"/>
                </a:solidFill>
              </a:rPr>
              <a:t>자료 비공개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98764" y="3954780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496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04504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4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직접 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04504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기준·지역·절기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770364" y="3954780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212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976104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76104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내 결론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76104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주장·근거·추론·한계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8040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214616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4616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관측지점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8452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25027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5027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절기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98863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235439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39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지표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09276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245851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5851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미션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5266944"/>
            <a:ext cx="39319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기상청 ASOS 1969–2026 실측 · 조작 즉시 재계산</a:t>
            </a:r>
          </a:p>
        </p:txBody>
      </p:sp>
    </p:spTree>
    <p:extLst>
      <p:ext uri="{BB962C8B-B14F-4D97-AF65-F5344CB8AC3E}">
        <p14:creationId xmlns:p14="http://schemas.microsoft.com/office/powerpoint/2010/main" val="2716364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 학습 대상 분석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(1) </a:t>
            </a:r>
            <a:r>
              <a:rPr lang="ko-KR" altLang="en-US" dirty="0"/>
              <a:t>학습 효과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03B9B69-CD13-4ABA-89B7-714CC4BFB1BF}"/>
              </a:ext>
            </a:extLst>
          </p:cNvPr>
          <p:cNvSpPr/>
          <p:nvPr/>
        </p:nvSpPr>
        <p:spPr>
          <a:xfrm>
            <a:off x="763570" y="1801367"/>
            <a:ext cx="10664860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학습 대상 — 중3~고2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교육과정상 ‘기후변화와 지구환경’·‘자료 해석’ 성취기준 배치 학년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임계값 개념과 평균·빈도 구분이 가능한 최소 학년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24절기를 들어는 봤으나 천문 기준임은 미학습 — 오개념 교정 여지 최대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난이도 적합성 — 같은 개념을 3단 용어로 반복 (아래)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11B287-3CD4-4307-84DA-D9AB62A182C9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학습 대상과 난이도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7889" y="3575912"/>
            <a:ext cx="3286729" cy="82235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92754" y="3639920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생활어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754" y="3859376"/>
            <a:ext cx="3177001" cy="49316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A8C"/>
                </a:solidFill>
              </a:rPr>
              <a:t>‘덥다’ · ‘여름’ — 정의 없이 시작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6B7A8C"/>
                </a:solidFill>
              </a:rPr>
              <a:t>등장 위치 · 첫 화면 · 예측 봉인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52635" y="3337863"/>
            <a:ext cx="3286729" cy="1060399"/>
          </a:xfrm>
          <a:prstGeom prst="roundRect">
            <a:avLst>
              <a:gd name="adj" fmla="val 6000"/>
            </a:avLst>
          </a:prstGeom>
          <a:solidFill>
            <a:srgbClr val="CFDFE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07499" y="3401871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조작어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499" y="3621327"/>
            <a:ext cx="3177001" cy="73121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A8C"/>
                </a:solidFill>
              </a:rPr>
              <a:t>기준 25°C · 기준 이상 더위일 · 마지막 초과일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6B7A8C"/>
                </a:solidFill>
              </a:rPr>
              <a:t>등장 위치 · 기준선 조작 · 판정 화면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7380" y="3099815"/>
            <a:ext cx="3286729" cy="129844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922244" y="3163822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학술어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2244" y="3383279"/>
            <a:ext cx="3177001" cy="96926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F3ECDC"/>
                </a:solidFill>
              </a:rPr>
              <a:t>임계값 · 유효 열용량 매개변수 · 계절 지연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F3ECDC"/>
                </a:solidFill>
              </a:rPr>
              <a:t>등장 위치 · 열관성 실험실 · 내 결론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7889" y="4453127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한 개념을 세 번 다른 말로 만나는 구조 · 수식은 끝까지 비노출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89" y="4782310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필수 경로는 짧게, 심화는 선택 분기로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7889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92754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F3ECDC"/>
                </a:solidFill>
              </a:rPr>
              <a:t>필수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754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5개 미션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754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F3ECDC"/>
                </a:solidFill>
              </a:rPr>
              <a:t>한 화면 한 질문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3461789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12665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667528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선택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7528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열관성 실험실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67528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에너지수지 모형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6036564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7440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42304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선택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2304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전국 16지점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2304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26개 비교 구간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611339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762215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817079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교사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17079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학습지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17079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오개념 표 · 루브릭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89" y="5934454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필수 경로만으로 한 차시 완결 · 심화는 남는 시간과 학생 수준에 맞춰 선택</a:t>
            </a:r>
          </a:p>
        </p:txBody>
      </p:sp>
    </p:spTree>
    <p:extLst>
      <p:ext uri="{BB962C8B-B14F-4D97-AF65-F5344CB8AC3E}">
        <p14:creationId xmlns:p14="http://schemas.microsoft.com/office/powerpoint/2010/main" val="6129338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 문제 정의 및 분석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(2) </a:t>
            </a:r>
            <a:r>
              <a:rPr lang="ko-KR" altLang="en-US" dirty="0"/>
              <a:t>주제 적합성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C839DF-756A-4E6A-AD22-E947033D59E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다루는 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기상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기후</a:t>
            </a:r>
            <a:r>
              <a:rPr lang="ko-KR" altLang="en-US" sz="1600" b="1" dirty="0">
                <a:solidFill>
                  <a:srgbClr val="243A5E"/>
                </a:solidFill>
              </a:rPr>
              <a:t> 개념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25AF997-4027-4587-9DE0-F2F8CAC57DE9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문제 — 절기·날씨·기후의 혼용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“처서가 더워졌다” = 천문 날짜에 기온을 귀속하는 오개념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기존 콘텐츠는 결론만 전달 — 학습자의 검증 경험 없음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개발계획서 제시 개념 → 결과물 반영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24절기의 과학(태양황경 15°) → 궤도 화면 (아래)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기후평년과 계절 길이 → 미션 2 ‘여름은 며칠일까’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기온 상승과 계절 이동 → 미션 1 처서 · 미션 5 계절 지연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습도·강수 변화 → 지표 3종 · 미션 4 빈도 대 강도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(확장) CO₂–기온 상관 → ‘지구 맥락’ 화면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961FE07-854A-44C9-B054-CD4DF9D05556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주제를 체험 중에 인식하는 세 지점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첫 화면 표제가 곧 주제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모든 조작 화면에 자료 범위 고지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개념 렌즈 4문항 통과 후에야 관측 진입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F865F0-8E23-45CF-A2AE-A46E3641491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체험 중 주제 인식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pic>
        <p:nvPicPr>
          <p:cNvPr id="16" name="Picture 15" descr="or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634" y="3685031"/>
            <a:ext cx="2926080" cy="2186247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366306" y="4105655"/>
            <a:ext cx="1444752" cy="9144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E76F51"/>
                </a:solidFill>
              </a:rPr>
              <a:t>처서 (미션 1의 검증 대상)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= 태양황경 150°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= 양력 8/23 무렵 고정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↔ 그 무렵 기온은 이동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89" y="5989319"/>
            <a:ext cx="4576526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태양황경 15° 간격으로 정한 천문 날짜 — 기온 기준 아님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41008" y="2880360"/>
            <a:ext cx="4649678" cy="6035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541008" y="2880360"/>
            <a:ext cx="50292" cy="603504"/>
          </a:xfrm>
          <a:prstGeom prst="rect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9024" y="29352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FBAE40"/>
                </a:solidFill>
              </a:rPr>
              <a:t>첫 화면 표제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024" y="3154679"/>
            <a:ext cx="443022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“24절기, 지금도 맞을까?”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움직이지 않는 절기와 움직이는 기후를 나란히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41008" y="3611880"/>
            <a:ext cx="4649678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541008" y="3611880"/>
            <a:ext cx="50292" cy="969264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69024" y="366674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모든 조작 화면 하단 고지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9024" y="3886200"/>
            <a:ext cx="4430222" cy="6400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“◈ 기상청 ASOS 실측 · 과거 5년(1969–1973) vs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현재 5년(2021–2025) — 관측 신호이고 30년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기후평년이 아닙니다 · 절기는 태양 위치로 정한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천문 날짜라 해마다 거의 움직이지 않습니다”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41008" y="4709160"/>
            <a:ext cx="4649678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541008" y="4709160"/>
            <a:ext cx="50292" cy="120700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69024" y="47640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개념 렌즈 — 절기·날씨·기후 분류 4문항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9024" y="4983480"/>
            <a:ext cx="4430222" cy="87782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· “처서는 양력 8월 23일 무렵이다” → 절기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“처서가 지났는데도 어제 낮 기온 31°C” → 날씨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“서울 한 해 평균기온이 …로 높아졌다” → 기후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“처서를 9월로 옮겨야 한다” → 절기 (오개념 판별)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1008" y="5971031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화면에 실제로 표시되는 문구를 그대로 인용</a:t>
            </a:r>
          </a:p>
        </p:txBody>
      </p:sp>
    </p:spTree>
    <p:extLst>
      <p:ext uri="{BB962C8B-B14F-4D97-AF65-F5344CB8AC3E}">
        <p14:creationId xmlns:p14="http://schemas.microsoft.com/office/powerpoint/2010/main" val="1798923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3. 아이디어 도출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(3) </a:t>
            </a:r>
            <a:r>
              <a:rPr lang="ko-KR" altLang="en-US" dirty="0"/>
              <a:t>아이디어 독창성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72C525-A8A5-4BC9-974B-CDB882122563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차별화 포인트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B23CE83-9F51-4381-9B10-B4B02CB3D987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차별화 — 실측과 모형을 한 앱에서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24절기(문화 기준선)를 과학 검증 대상으로 전환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‘덥다’의 정의를 학습자에게 이양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관측으로 본 것을 물리 모형으로 다시 확인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1D71CAD-7DBD-4A18-9BBC-EF7E61C95575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새로운 학습 경험 — 예측 봉인 루프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자료 공개 전 내 생각 봉인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후 봉인한 예측 재대조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F333DD-0B00-4716-9907-EA19D8AE674F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새로운 학습 경험과 </a:t>
            </a:r>
            <a:r>
              <a:rPr lang="ko-KR" altLang="en-US" sz="1600" b="1" dirty="0" err="1">
                <a:solidFill>
                  <a:srgbClr val="243A5E"/>
                </a:solidFill>
              </a:rPr>
              <a:t>인터렉션</a:t>
            </a:r>
            <a:endParaRPr lang="ko-KR" altLang="en-US" sz="1600" dirty="0">
              <a:solidFill>
                <a:srgbClr val="F3ECDC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1577386" y="2980943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641394" y="3035807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PhET · En-ROADS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1394" y="3255263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모형만 · 실측 대조 없음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7048" y="2980943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701057" y="3035807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Weather24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1057" y="3255263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F3ECDC"/>
                </a:solidFill>
              </a:rPr>
              <a:t>실측 + 모형 + 문화 기준선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77386" y="4059935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641394" y="4114799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일반 기후 교재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1394" y="4334255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결론만 전달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37048" y="4059935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701057" y="4114799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기후 스트라이프 · 개방포털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1057" y="4334255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실측만 · 조작 학습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738" y="2953511"/>
            <a:ext cx="512064" cy="2157984"/>
          </a:xfrm>
          <a:prstGeom prst="rect">
            <a:avLst/>
          </a:prstGeom>
          <a:noFill/>
        </p:spPr>
        <p:txBody>
          <a:bodyPr wrap="square" anchor="ctr" vert="vert270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E76F51"/>
                </a:solidFill>
              </a:rPr>
              <a:t>변수 조작 학습 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49954" y="5129783"/>
            <a:ext cx="4119325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E76F51"/>
                </a:solidFill>
              </a:rPr>
              <a:t>실측 관측 자료 보유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026" y="5477254"/>
            <a:ext cx="4686253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두 축을 함께 가진 칸의 공백 — 그 자리를 채운 설계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3026" y="5806439"/>
            <a:ext cx="4686253" cy="43891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문화 기준선을 쓰는 이유 — 학습자가 이미 알고 있어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 “틀렸을 수도 있다”는 반증 동기가 즉시 생김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41008" y="2734056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541008" y="2734056"/>
            <a:ext cx="50292" cy="530352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9024" y="2788920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① 예측 봉인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9024" y="3008376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자료·그래프 비공개 상태로 내 생각 선택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41008" y="3337560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541008" y="3337560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9024" y="33924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② 직접 조작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9024" y="3611880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기준선·지역·절기·지표를 바꿔 확인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41008" y="3941064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6541008" y="3941064"/>
            <a:ext cx="50292" cy="530352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69024" y="3995928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③ 봉인 해제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9024" y="4215384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“내 예측 vs 자료” 대조 — 어긋난 지점 명시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41008" y="4544568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6541008" y="4544568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9024" y="4599432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④ 내 결론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9024" y="4818888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주장·근거·추론·한계를 내 말로 작성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41008" y="5148072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6541008" y="5148072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69024" y="5202936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⑤ 이해 확인 → 전이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9024" y="5422392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오답은 자료로 되돌림 · 다른 절기에 적용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41008" y="5788152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③이 이 앱의 핵심 — 봉인에서 끝내지 않는 필수 대조</a:t>
            </a:r>
          </a:p>
        </p:txBody>
      </p:sp>
    </p:spTree>
    <p:extLst>
      <p:ext uri="{BB962C8B-B14F-4D97-AF65-F5344CB8AC3E}">
        <p14:creationId xmlns:p14="http://schemas.microsoft.com/office/powerpoint/2010/main" val="976670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4. 체험∙참여형 설계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(4) </a:t>
            </a:r>
            <a:r>
              <a:rPr lang="ko-KR" altLang="en-US" dirty="0" err="1"/>
              <a:t>체험</a:t>
            </a:r>
            <a:r>
              <a:rPr lang="ko-KR" altLang="en-US" dirty="0" err="1"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dirty="0" err="1"/>
              <a:t>참여형</a:t>
            </a:r>
            <a:r>
              <a:rPr lang="ko-KR" altLang="en-US" dirty="0"/>
              <a:t> 설계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025F57-79A1-487A-9B9B-DB80AFF0BD3F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 err="1">
                <a:solidFill>
                  <a:srgbClr val="243A5E"/>
                </a:solidFill>
              </a:rPr>
              <a:t>조작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선택과</a:t>
            </a:r>
            <a:r>
              <a:rPr lang="ko-KR" altLang="en-US" sz="1600" b="1" dirty="0">
                <a:solidFill>
                  <a:srgbClr val="243A5E"/>
                </a:solidFill>
              </a:rPr>
              <a:t> 학습 개념의 연계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52BA7C6-A9C7-45E9-8639-8B9BBAAF5193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기준선 이동 → 아래 숫자 즉시 재계산 (배포본 실측)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경로 4종 — 손잡이 끌기 / 슬라이더 / ＋− / 자주 쓰는 기준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기준선 미조작 시 판정 버튼 잠금 — 클릭만으로 통과 불가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CE136B6-B59B-4080-96C2-2494E87C33ED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탐구 범위 — 16지점 × 24절기 × 3지표 × 26구간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보기 3종 — 그래프 / 전국 지도 / 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조작부마다 화면 라벨 명시 · 결과 수치를 조작부 바로 위에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A3589-B7F1-4D9D-BC79-DFC4623843F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체험 요소 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4738" y="2715767"/>
          <a:ext cx="4722828" cy="1508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74276"/>
                <a:gridCol w="1574276"/>
                <a:gridCol w="1574276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3ECDC"/>
                          </a:solidFill>
                        </a:rPr>
                        <a:t>내가 정한 ‘덥다’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3ECDC"/>
                          </a:solidFill>
                        </a:rPr>
                        <a:t>더위일 과거 → 현재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3ECDC"/>
                          </a:solidFill>
                        </a:rPr>
                        <a:t>더위가 그치는 날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22°C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75일 → 110일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9/17 → 9/29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25°C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31일 → 68일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8/30 → 9/12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28°C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4.8일 → 33일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8/8 → 8/29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30°C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0.6일 → 7.8일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7/19 → 8/10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E76F51"/>
                          </a:solidFill>
                        </a:rPr>
                        <a:t>33°C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76F51"/>
                          </a:solidFill>
                        </a:rPr>
                        <a:t>0일 → 0일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76F51"/>
                          </a:solidFill>
                        </a:rPr>
                        <a:t>비교 불가 → 안내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4738" y="4544567"/>
            <a:ext cx="4722829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서울·기온 실측 — 같은 자료, 기준에 따라 달라지는 결론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738" y="4873751"/>
            <a:ext cx="4722829" cy="10972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조작 결과 → 학습 개념 연결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기준↑ → 일수↓ → “모호한 말은 기준을 정해야 자료가 된다”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1mm 감소·50mm 증가 → “빈도와 강도는 다른 지표”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온실효과↑ → 곡선 상승·지연 불변 → “둘은 다른 원인”</a:t>
            </a:r>
          </a:p>
        </p:txBody>
      </p:sp>
      <p:pic>
        <p:nvPicPr>
          <p:cNvPr id="22" name="Picture 21" descr="map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067" y="2587752"/>
            <a:ext cx="2777559" cy="3273552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522720" y="5934455"/>
            <a:ext cx="4686253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‘지도 16지점’ 보기 — 한 지역의 결과를 전국으로 넓힐 수 없음의 시각적 확인</a:t>
            </a:r>
          </a:p>
        </p:txBody>
      </p:sp>
    </p:spTree>
    <p:extLst>
      <p:ext uri="{BB962C8B-B14F-4D97-AF65-F5344CB8AC3E}">
        <p14:creationId xmlns:p14="http://schemas.microsoft.com/office/powerpoint/2010/main" val="28983159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5. 학습 성과와 학습적 피드백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(5) </a:t>
            </a:r>
            <a:r>
              <a:rPr lang="ko-KR" altLang="en-US" dirty="0"/>
              <a:t>학습 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D3FC62-F864-4C9F-A90B-09C29A7B196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학습 성과와 피드백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7474FD1-2FF0-4693-9C1C-96D50627453F}"/>
              </a:ext>
            </a:extLst>
          </p:cNvPr>
          <p:cNvSpPr/>
          <p:nvPr/>
        </p:nvSpPr>
        <p:spPr>
          <a:xfrm>
            <a:off x="763570" y="1801367"/>
            <a:ext cx="10664860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학습 성과 — 완료 화면 ‘내 기록’으로 교사가 회수 (채점 근거)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1314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37890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예측 5건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90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봉인 후 대조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17830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754406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CERL 5편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54406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주장·근거·추론·한계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347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470923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렌즈 4문항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0923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절기·날씨·기후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864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187440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이해확인 5문항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7440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1차/2차 구분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7380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03956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전이 3문항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3956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미학습 상황 적용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83897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620473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실험실 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0473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내가 고른 물리량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314" y="3026663"/>
            <a:ext cx="1018937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잘못된 조작·선택에 대한 학습적 피드백 6종 — 전부 배포본 실측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1314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1001314" y="3337559"/>
            <a:ext cx="50292" cy="859536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29330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① 기준을 극단으로 올렸을 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330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“과거·현재 모두 0일에 가까워 비교할 것이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남지 않아요. 기준선을 내리면 비교가 시작됩니다”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70923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4470923" y="3337559"/>
            <a:ext cx="50292" cy="859536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98939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② 이해 확인 1차 오답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98939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“아직이에요. 정답을 알려 드리기 전에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한 번 더 골라 보세요”  — 정답 비공개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40532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940532" y="3337559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68548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③ 오답 되돌림 힌트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68548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“기준선을 25°C와 28°C에 놓았을 때 같은 자료인데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여름 길이가 달라졌던 것을 떠올려 보세요”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01314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1001314" y="4306823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29330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④ 근거에 단위 누락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9330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“그 숫자가 무엇을 센 값인지 단위나 기간을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함께 써 주세요 (예: …일, …°C, …년)”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470923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4470923" y="4306823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98939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⑤ 한계에 범위어 누락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98939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“어디까지 통하는지가 들어가야 해요 —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지역·기간·기준·원인 중 무엇을 넘어 말할 수 없는지”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40532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7940532" y="4306823"/>
            <a:ext cx="50292" cy="859536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68548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⑥ 베끼기·복사 차단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68548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“화면의 안내 문장을 그대로 옮긴 것 같아요”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“‘근거’ 칸과 같은 문장이에요”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1314" y="5330951"/>
            <a:ext cx="1018937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공통 원칙 — 오답 시 정답 비공개 · 자료로 되돌린 뒤 재질문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1314" y="5623558"/>
            <a:ext cx="10189372" cy="42062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우회 차단 — 문장 중복·발문 베끼기 검사 · 오개념(범위 확대·인과 단정) 점검을 필수 경로에서 실행</a:t>
            </a:r>
          </a:p>
        </p:txBody>
      </p:sp>
    </p:spTree>
    <p:extLst>
      <p:ext uri="{BB962C8B-B14F-4D97-AF65-F5344CB8AC3E}">
        <p14:creationId xmlns:p14="http://schemas.microsoft.com/office/powerpoint/2010/main" val="1109833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6. 구현 완성도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(6) </a:t>
            </a:r>
            <a:r>
              <a:rPr lang="ko-KR" altLang="en-US" dirty="0"/>
              <a:t>구현 완성도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40A4DB-E749-40E5-B9EC-0145A3C7CE5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기상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기후</a:t>
            </a:r>
            <a:r>
              <a:rPr lang="ko-KR" altLang="en-US" sz="1600" b="1" dirty="0">
                <a:solidFill>
                  <a:srgbClr val="243A5E"/>
                </a:solidFill>
              </a:rPr>
              <a:t> 데이터 반영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8453AF5-E513-4059-9547-7CB11C205D7D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기상청 ASOS 종관기상관측 일자료 1969–2026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16지점 × 24절기 × 3지표(기온·강수·습도)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파생 집계 — 기준 초과 일수 / 마지막 초과일 / 절기 무렵 15일 평균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시 즉시 재계산 — 사전 계산 이미지 아님 (아래 실화면)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F8FA0BB-8FD3-432D-8721-19EAAD195D1E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제품 안의 AI — 증거 감사관의 과장 차단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E0E4E2-2FB2-49BF-8D48-DF916F2E644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en-US" altLang="ko-KR" sz="1600" b="1" dirty="0">
                <a:solidFill>
                  <a:srgbClr val="243A5E"/>
                </a:solidFill>
              </a:rPr>
              <a:t>AI</a:t>
            </a:r>
            <a:r>
              <a:rPr lang="ko-KR" altLang="en-US" sz="1600" b="1" dirty="0">
                <a:solidFill>
                  <a:srgbClr val="243A5E"/>
                </a:solidFill>
              </a:rPr>
              <a:t> </a:t>
            </a:r>
            <a:r>
              <a:rPr lang="ko-KR" altLang="en-US" sz="1600" b="1" dirty="0" err="1">
                <a:solidFill>
                  <a:srgbClr val="243A5E"/>
                </a:solidFill>
              </a:rPr>
              <a:t>도구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기술</a:t>
            </a:r>
            <a:r>
              <a:rPr lang="ko-KR" altLang="en-US" sz="1600" b="1" dirty="0">
                <a:solidFill>
                  <a:srgbClr val="243A5E"/>
                </a:solidFill>
              </a:rPr>
              <a:t> 활용</a:t>
            </a:r>
            <a:endParaRPr lang="ko-KR" altLang="en-US" sz="1600" dirty="0">
              <a:solidFill>
                <a:srgbClr val="F3ECDC"/>
              </a:solidFill>
            </a:endParaRPr>
          </a:p>
        </p:txBody>
      </p:sp>
      <p:pic>
        <p:nvPicPr>
          <p:cNvPr id="16" name="Picture 15" descr="chart-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602" y="3118103"/>
            <a:ext cx="4613101" cy="1959500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1019602" y="5111495"/>
            <a:ext cx="46131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서울 · 과거(회색 점선) 대 현재(빨강) · 보라색이 내가 정한 기준선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9602" y="5404103"/>
            <a:ext cx="1070979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56178" y="5449823"/>
            <a:ext cx="997827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8,360건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78" y="5715913"/>
            <a:ext cx="997827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자동 회귀 검증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00309" y="5404103"/>
            <a:ext cx="1070979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236885" y="5449823"/>
            <a:ext cx="997827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0건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36885" y="5715913"/>
            <a:ext cx="997827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겹침·잘림·오류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1016" y="5404103"/>
            <a:ext cx="1070979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417592" y="5449823"/>
            <a:ext cx="997827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134KB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7592" y="5715913"/>
            <a:ext cx="997827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첫 로드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1724" y="5404103"/>
            <a:ext cx="1070979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598300" y="5449823"/>
            <a:ext cx="997827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0개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8300" y="5715913"/>
            <a:ext cx="997827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외부 도메인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41008" y="2368296"/>
            <a:ext cx="4649678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541008" y="2368296"/>
            <a:ext cx="50292" cy="56692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9024" y="2423160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학생이 쓴 결론 (일부러 과장)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9024" y="2642615"/>
            <a:ext cx="443022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“서울에서 더위가 늦어졌으니 우리나라 전체가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기후변화 때문에 완전히 바뀌었다”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41008" y="3081528"/>
            <a:ext cx="4649678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541008" y="3081528"/>
            <a:ext cx="50292" cy="93268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69024" y="3136392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AI 응답 (배포본 실측 · 200 OK)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69024" y="3355848"/>
            <a:ext cx="4430222" cy="60350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“서울 자료만으로 우리나라 전체를 말할 수 없고,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‘기후변화 때문에’라는 원인도 이 근거만으로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단정할 수 없다”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→ 다음 행동: 한계 문장 쓰기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41008" y="4178808"/>
            <a:ext cx="4649678" cy="6583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  · 구조화 출력 강제 · 외부 전송 동의 후에만 요청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실패 시 기기 안 규칙 점검으로 폴백 — 학습은 항상 완결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1008" y="4837176"/>
            <a:ext cx="4649678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제작 과정의 AI — Claude Code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41008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577584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6회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77584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AI 레드팀 자체 감사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27476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164052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100/100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4052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AI 품질 평가 세트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713945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9750521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6건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50521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프롬프트 세션 원문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41008" y="5751576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자기 결과물을 AI로 반증 → 전량 수정 → 게이트로 재발 방지</a:t>
            </a:r>
          </a:p>
        </p:txBody>
      </p:sp>
    </p:spTree>
    <p:extLst>
      <p:ext uri="{BB962C8B-B14F-4D97-AF65-F5344CB8AC3E}">
        <p14:creationId xmlns:p14="http://schemas.microsoft.com/office/powerpoint/2010/main" val="27837687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0207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513</TotalTime>
  <Words>807</Words>
  <Application>Microsoft Office PowerPoint</Application>
  <PresentationFormat>와이드스크린</PresentationFormat>
  <Paragraphs>127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9" baseType="lpstr">
      <vt:lpstr>맑은 고딕</vt:lpstr>
      <vt:lpstr>페이퍼로지 8 ExtraBold</vt:lpstr>
      <vt:lpstr>Arial</vt:lpstr>
      <vt:lpstr>Calibri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38</cp:revision>
  <cp:lastPrinted>2026-07-31T07:23:24Z</cp:lastPrinted>
  <dcterms:created xsi:type="dcterms:W3CDTF">2026-07-24T07:24:55Z</dcterms:created>
  <dcterms:modified xsi:type="dcterms:W3CDTF">2026-07-31T08:51:00Z</dcterms:modified>
</cp:coreProperties>
</file>