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0" r:id="rId4"/>
    <p:sldId id="282" r:id="rId5"/>
    <p:sldId id="283" r:id="rId6"/>
    <p:sldId id="284" r:id="rId7"/>
    <p:sldId id="285" r:id="rId8"/>
    <p:sldId id="286" r:id="rId9"/>
    <p:sldId id="268" r:id="rId10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A5E"/>
    <a:srgbClr val="F3ECDC"/>
    <a:srgbClr val="E76F51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9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0704-418A-42A8-B767-71FC43B0918A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E997E-8190-4D82-86DC-FE0D784C8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8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〔0:00–1:30 · 1분 30초 · 표지〕</a:t>
            </a:r>
          </a:p>
          <a:p/>
          <a:p>
            <a:r>
              <a:t>안녕하십니까. 팀 Weather24, 신동준입니다. 1인 팀입니다.</a:t>
            </a:r>
          </a:p>
          <a:p/>
          <a:p>
            <a:r>
              <a:t>오늘 보여 드릴 것은 웹앱 하나입니다. 이름은 Weather24, 부제는 ‘절기, 아직 맞을까’입니다.</a:t>
            </a:r>
          </a:p>
          <a:p/>
          <a:p>
            <a:r>
              <a:t>먼저 이 앱이 답하려는 질문만 말씀드리겠습니다.</a:t>
            </a:r>
          </a:p>
          <a:p>
            <a:r>
              <a:t>24절기는 태양의 위치로 정한 천문 날짜입니다. 처서는 태양황경 150도, 양력 8월 23일 무렵이고,</a:t>
            </a:r>
          </a:p>
          <a:p>
            <a:r>
              <a:t>이 날짜는 해마다 거의 움직이지 않습니다. 그런데 그 무렵의 날씨는 움직입니다.</a:t>
            </a:r>
          </a:p>
          <a:p>
            <a:r>
              <a:t>학생들은 이 둘을 섞어서 “처서가 더워졌다”고 말합니다. 날짜에 기온을 귀속시키는 오개념입니다.</a:t>
            </a:r>
          </a:p>
          <a:p/>
          <a:p>
            <a:r>
              <a:t>이 앱은 그 오개념을 설명으로 고치지 않습니다.</a:t>
            </a:r>
          </a:p>
          <a:p>
            <a:r>
              <a:t>학생이 ‘덥다’의 기준을 직접 정하고, 기상청 실측 자료로 자기 지역에서 직접 확인하게 합니다.</a:t>
            </a:r>
          </a:p>
          <a:p/>
          <a:p>
            <a:r>
              <a:t>오늘 25분은 셋으로 나누겠습니다.</a:t>
            </a:r>
          </a:p>
          <a:p>
            <a:r>
              <a:t>앞의 9분은 누구를 위해 무엇을 어떻게 설계했는지,</a:t>
            </a:r>
          </a:p>
          <a:p>
            <a:r>
              <a:t>가운데 8분 30초는 배포된 앱을 직접 열어 보여 드리고,</a:t>
            </a:r>
          </a:p>
          <a:p>
            <a:r>
              <a:t>마지막 6분은 지금 어디까지 왔고 무엇이 남았는지입니다.</a:t>
            </a:r>
          </a:p>
          <a:p/>
          <a:p>
            <a:r>
              <a:t>— 멘토님들께 여쭙고 싶은 것은 네 가지로 정리해 마지막 장에 두었습니다.</a:t>
            </a:r>
          </a:p>
          <a:p>
            <a:r>
              <a:t>   그중 가장 급한 것부터 말씀드리면, 학생 파일럿을 아직 한 번도 못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〔1:30–3:00 · 1분 30초 · I 결과물 및 팀 기본 정보〕</a:t>
            </a:r>
          </a:p>
          <a:p/>
          <a:p>
            <a:r>
              <a:t>결과물과 팀 기본 정보입니다.</a:t>
            </a:r>
          </a:p>
          <a:p/>
          <a:p>
            <a:r>
              <a:t>팀은 저 혼자입니다. 기획·개발·데이터·디자인·검증을 단독으로 했고,</a:t>
            </a:r>
          </a:p>
          <a:p>
            <a:r>
              <a:t>생성형 AI를 개발 파트너로 상시 썼습니다. 그 과정은 프롬프트 세션 원문 6건으로 그대로 제출합니다.</a:t>
            </a:r>
          </a:p>
          <a:p/>
          <a:p>
            <a:r>
              <a:t>한 줄 소개는 이것입니다 — 중·고생이 ‘덥다’ 기준을 정해 24절기를 실측 검증하는 기후 학습 웹앱.</a:t>
            </a:r>
          </a:p>
          <a:p/>
          <a:p>
            <a:r>
              <a:t>〔오른쪽 아래 3단 흐름을 가리키며〕</a:t>
            </a:r>
          </a:p>
          <a:p>
            <a:r>
              <a:t>한 미션의 뼈대가 세 단계입니다.</a:t>
            </a:r>
          </a:p>
          <a:p>
            <a:r>
              <a:t>첫째, 자료를 보기 전에 자기 예측을 봉인합니다. 이 화면에는 그래프도 표도 숫자도 없습니다.</a:t>
            </a:r>
          </a:p>
          <a:p>
            <a:r>
              <a:t>둘째, 기준·지역·절기를 직접 조작합니다.</a:t>
            </a:r>
          </a:p>
          <a:p>
            <a:r>
              <a:t>셋째, 주장·근거·추론·한계를 자기 말로 씁니다.</a:t>
            </a:r>
          </a:p>
          <a:p>
            <a:r>
              <a:t>미션 1은 이 뼈대가 16화면으로 펼쳐집니다.</a:t>
            </a:r>
          </a:p>
          <a:p/>
          <a:p>
            <a:r>
              <a:t>규모는 관측지점 16곳, 절기 24개, 지표 3종, 미션 5개입니다.</a:t>
            </a:r>
          </a:p>
          <a:p>
            <a:r>
              <a:t>자료는 기상청 ASOS 종관기상관측 일자료 1969년부터 2026년까지이고,</a:t>
            </a:r>
          </a:p>
          <a:p>
            <a:r>
              <a:t>학생이 조작하면 그 자리에서 다시 계산합니다. 미리 만들어 둔 그림이 아닙니다.</a:t>
            </a:r>
          </a:p>
          <a:p/>
          <a:p>
            <a:r>
              <a:t>— 이 주소는 지금 열려 있습니다. 오늘 아침에도 확인했고, 로그인도 설치도 필요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〔3:00–4:30 · 1분 30초 · 1. 학습 대상 분석 — 눈썹: (1) 학습 효과〕</a:t>
            </a:r>
          </a:p>
          <a:p/>
          <a:p>
            <a:r>
              <a:t>학습 대상은 중학교 3학년부터 고등학교 2학년까지입니다. 세 가지 근거로 골랐습니다.</a:t>
            </a:r>
          </a:p>
          <a:p/>
          <a:p>
            <a:r>
              <a:t>첫째, 교육과정에서 ‘기후변화와 지구환경’과 ‘자료 해석’ 성취기준이 배치되는 학년입니다.</a:t>
            </a:r>
          </a:p>
          <a:p>
            <a:r>
              <a:t>둘째, 임계값이라는 개념과 평균·빈도의 구분이 가능한 최소 학년입니다.</a:t>
            </a:r>
          </a:p>
          <a:p>
            <a:r>
              <a:t>셋째, 24절기를 들어는 봤지만 그것이 천문 기준이라는 것은 배우지 않은 상태라</a:t>
            </a:r>
          </a:p>
          <a:p>
            <a:r>
              <a:t>       오개념을 고칠 여지가 가장 큽니다.</a:t>
            </a:r>
          </a:p>
          <a:p/>
          <a:p>
            <a:r>
              <a:t>〔계단 그림을 왼쪽부터 가리키며〕</a:t>
            </a:r>
          </a:p>
          <a:p>
            <a:r>
              <a:t>난이도는 용어를 세 단으로 올려서 맞췄습니다.</a:t>
            </a:r>
          </a:p>
          <a:p>
            <a:r>
              <a:t>첫 화면에서는 ‘덥다’, ‘여름’ 같은 생활어로 시작합니다. 정의 없이 시작합니다.</a:t>
            </a:r>
          </a:p>
          <a:p>
            <a:r>
              <a:t>조작 화면에서 그 말이 ‘기준 25도’, ‘기준 이상 더위일’이라는 조작어로 바뀝니다.</a:t>
            </a:r>
          </a:p>
          <a:p>
            <a:r>
              <a:t>열관성 실험실과 내 결론 단계에서 ‘임계값’, ‘유효 열용량 매개변수’, ‘계절 지연’이라는</a:t>
            </a:r>
          </a:p>
          <a:p>
            <a:r>
              <a:t>학술어를 만납니다. 같은 개념을 세 번, 다른 말로 만나게 하는 구조입니다.</a:t>
            </a:r>
          </a:p>
          <a:p>
            <a:r>
              <a:t>수식은 끝까지 노출하지 않습니다.</a:t>
            </a:r>
          </a:p>
          <a:p/>
          <a:p>
            <a:r>
              <a:t>필수 경로는 5개 미션이고, 실험실·전국 16지점·26개 비교 구간은 선택 분기입니다.</a:t>
            </a:r>
          </a:p>
          <a:p/>
          <a:p>
            <a:r>
              <a:t>— 다만 솔직히 말씀드릴 것이 있습니다. 지금 앱 화면에는 대상 학년이 적혀 있지 않습니다.</a:t>
            </a:r>
          </a:p>
          <a:p>
            <a:r>
              <a:t>   계획서와 교사 학습지에만 있습니다. 제출 전에 고치겠습니다.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〔4:30–6:30 · 2분 · 2. 문제 정의 및 분석 — 눈썹: (2) 주제 적합성 20점〕</a:t>
            </a:r>
          </a:p>
          <a:p/>
          <a:p>
            <a:r>
              <a:t>문제부터 말씀드리겠습니다. 절기와 날씨와 기후를 섞어 말하는 것입니다.</a:t>
            </a:r>
          </a:p>
          <a:p>
            <a:r>
              <a:t>“처서가 더워졌다”는 천문 날짜에 기온을 귀속시킨 오개념입니다.</a:t>
            </a:r>
          </a:p>
          <a:p>
            <a:r>
              <a:t>그리고 기존 콘텐츠는 대부분 결론만 전달합니다. 학습자가 직접 검증한 경험이 없습니다.</a:t>
            </a:r>
          </a:p>
          <a:p/>
          <a:p>
            <a:r>
              <a:t>〔왼쪽 대조표를 가리키며〕</a:t>
            </a:r>
          </a:p>
          <a:p>
            <a:r>
              <a:t>개발계획서에 적은 다섯 개 개념이 각각 어느 화면에서 다뤄지는지 대조한 표입니다.</a:t>
            </a:r>
          </a:p>
          <a:p>
            <a:r>
              <a:t>24절기의 과학, 태양황경 15도 간격은 아래 궤도 화면에서,</a:t>
            </a:r>
          </a:p>
          <a:p>
            <a:r>
              <a:t>기후평년과 계절 길이는 미션 2 ‘여름은 며칠일까’에서,</a:t>
            </a:r>
          </a:p>
          <a:p>
            <a:r>
              <a:t>기온 상승과 계절 이동은 미션 1 처서와 미션 5 계절 지연에서,</a:t>
            </a:r>
          </a:p>
          <a:p>
            <a:r>
              <a:t>습도·강수 변화는 지표 3종과 미션 4에서 다룹니다.</a:t>
            </a:r>
          </a:p>
          <a:p/>
          <a:p>
            <a:r>
              <a:t>여기서 분명히 말씀드리겠습니다.</a:t>
            </a:r>
          </a:p>
          <a:p>
            <a:r>
              <a:t>계획서에 있던 태풍과 입춘은 구현하지 않았습니다. 타임랩스 재생과 온난화 퀴즈도 뺐습니다.</a:t>
            </a:r>
          </a:p>
          <a:p>
            <a:r>
              <a:t>기능 일곱 개를 60퍼센트로 만드는 것보다 하나를 100퍼센트로 만드는 편이 낫다고 판단했습니다.</a:t>
            </a:r>
          </a:p>
          <a:p>
            <a:r>
              <a:t>수집만 하고 쓰지 않은 데이터셋 세 개는 README에 ‘현재 배포본 미사용’으로 적어 두었습니다.</a:t>
            </a:r>
          </a:p>
          <a:p>
            <a:r>
              <a:t>숨기고 넘어가지 않았습니다.</a:t>
            </a:r>
          </a:p>
          <a:p/>
          <a:p>
            <a:r>
              <a:t>〔오른쪽 인용 카드 3장을 가리키며〕</a:t>
            </a:r>
          </a:p>
          <a:p>
            <a:r>
              <a:t>오른쪽은 학습자가 체험 중에 주제를 인식하는 세 지점입니다.</a:t>
            </a:r>
          </a:p>
          <a:p>
            <a:r>
              <a:t>문구는 전부 화면에 실제로 있는 것을 그대로 옮겼습니다.</a:t>
            </a:r>
          </a:p>
          <a:p>
            <a:r>
              <a:t>첫 화면 표제가 곧 주제입니다 — “24절기, 지금도 맞을까?”</a:t>
            </a:r>
          </a:p>
          <a:p>
            <a:r>
              <a:t>모든 조작 화면 아래에 자료 범위 고지가 붙습니다.</a:t>
            </a:r>
          </a:p>
          <a:p>
            <a:r>
              <a:t>5년 관측 신호이지 30년 기후평년이 아니라고 앱이 먼저 밝힙니다.</a:t>
            </a:r>
          </a:p>
          <a:p>
            <a:r>
              <a:t>그리고 개념 렌즈 네 문항을 통과해야 관측 화면으로 들어갑니다.</a:t>
            </a:r>
          </a:p>
          <a:p/>
          <a:p>
            <a:r>
              <a:t>— 마지막 문항이 핵심입니다. “처서 무렵 더위가 그치지 않으니 처서를 9월로 옮겨야 한다.”</a:t>
            </a:r>
          </a:p>
          <a:p>
            <a:r>
              <a:t>   이 문장을 ‘절기’로 분류할 수 있어야 넘어갑니다. 오개념을 직접 판별하는 문항입니다.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〔6:30–8:00 · 1분 30초 · 3. 아이디어 도출 — 눈썹: (3) 아이디어 독창성 15점〕</a:t>
            </a:r>
          </a:p>
          <a:p/>
          <a:p>
            <a:r>
              <a:t>차별화를 두 축으로 정리했습니다. 가로는 실측 관측 자료를 갖고 있는가,</a:t>
            </a:r>
          </a:p>
          <a:p>
            <a:r>
              <a:t>세로는 학습자가 변수를 직접 조작하는가입니다.</a:t>
            </a:r>
          </a:p>
          <a:p/>
          <a:p>
            <a:r>
              <a:t>PhET이나 En-ROADS는 조작은 훌륭한데 실측 대조가 없습니다. 모형 안에서만 움직입니다.</a:t>
            </a:r>
          </a:p>
          <a:p>
            <a:r>
              <a:t>기후 스트라이프나 기상자료개방포털은 실측은 있는데 조작해서 배우는 구조가 아닙니다.</a:t>
            </a:r>
          </a:p>
          <a:p>
            <a:r>
              <a:t>일반 기후 교재는 결론만 전달합니다.</a:t>
            </a:r>
          </a:p>
          <a:p>
            <a:r>
              <a:t>두 축을 함께 가진 칸이 비어 있었고, 그 자리를 채운 것이 이 앱입니다.</a:t>
            </a:r>
          </a:p>
          <a:p/>
          <a:p>
            <a:r>
              <a:t>24절기를 기준선으로 쓴 이유가 있습니다. 학습자가 이미 알고 있기 때문입니다.</a:t>
            </a:r>
          </a:p>
          <a:p>
            <a:r>
              <a:t>아는 것이라야 “틀렸을 수도 있다”는 반증 동기가 생깁니다.</a:t>
            </a:r>
          </a:p>
          <a:p/>
          <a:p>
            <a:r>
              <a:t>〔오른쪽 5단 루프를 가리키며〕</a:t>
            </a:r>
          </a:p>
          <a:p>
            <a:r>
              <a:t>새로운 학습 경험은 이 예측 봉인 루프입니다.</a:t>
            </a:r>
          </a:p>
          <a:p>
            <a:r>
              <a:t>①에서 자료를 보기 전에 생각을 잠그고, ②에서 직접 조작하고,</a:t>
            </a:r>
          </a:p>
          <a:p>
            <a:r>
              <a:t>③에서 봉인한 예측을 다시 꺼내 자료와 대조합니다.</a:t>
            </a:r>
          </a:p>
          <a:p>
            <a:r>
              <a:t>④에서 내 결론을 쓰고, ⑤에서 이해를 확인한 뒤 다른 절기에 적용합니다.</a:t>
            </a:r>
          </a:p>
          <a:p/>
          <a:p>
            <a:r>
              <a:t>— 세 번째가 핵심입니다. 예측을 봉인하는 앱은 있습니다.</a:t>
            </a:r>
          </a:p>
          <a:p>
            <a:r>
              <a:t>   그런데 봉인한 예측을 다시 꺼내 대조하는 곳은 드뭅니다.</a:t>
            </a:r>
          </a:p>
          <a:p>
            <a:r>
              <a:t>   어긋났을 때 앱이 이렇게 말합니다 — “어긋난 지점이 배울 곳입니다.”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〔8:00–9:30 · 1분 30초 · 4. 체험·참여형 설계 — 눈썹: (4) 체험·참여형 25점〕</a:t>
            </a:r>
          </a:p>
          <a:p/>
          <a:p>
            <a:r>
              <a:t>이 표 한 장이 이 앱의 전부라고 해도 됩니다. 서울·기온 실측입니다.</a:t>
            </a:r>
          </a:p>
          <a:p/>
          <a:p>
            <a:r>
              <a:t>〔표를 한 행씩 짚으며〕</a:t>
            </a:r>
          </a:p>
          <a:p>
            <a:r>
              <a:t>‘덥다’를 22도로 정하면 더위일이 75일에서 110일로 늘고,</a:t>
            </a:r>
          </a:p>
          <a:p>
            <a:r>
              <a:t>더위가 그치는 날은 9월 17일에서 9월 29일로 12일 늦어집니다.</a:t>
            </a:r>
          </a:p>
          <a:p>
            <a:r>
              <a:t>25도로 정하면 31일에서 68일로, 8월 30일에서 9월 12일로 13일 늦어집니다.</a:t>
            </a:r>
          </a:p>
          <a:p>
            <a:r>
              <a:t>28도로 올리면 4.8일에서 33일로 늘고, 격차는 21일로 더 커집니다.</a:t>
            </a:r>
          </a:p>
          <a:p>
            <a:r>
              <a:t>30도에서는 22일입니다.</a:t>
            </a:r>
          </a:p>
          <a:p/>
          <a:p>
            <a:r>
              <a:t>그리고 33도까지 올리면, 과거도 0일 현재도 0일이 됩니다. 비교할 것이 남지 않습니다.</a:t>
            </a:r>
          </a:p>
          <a:p>
            <a:r>
              <a:t>그때 앱이 판정 버튼을 누르기 전에 그 자리에서 이렇게 말합니다 —</a:t>
            </a:r>
          </a:p>
          <a:p>
            <a:r>
              <a:t>“비교할 것이 남지 않아요. 기준선을 내리면 비교가 시작됩니다.”</a:t>
            </a:r>
          </a:p>
          <a:p/>
          <a:p>
            <a:r>
              <a:t>같은 자료입니다. 기준을 바꾸면 결론이 달라집니다.</a:t>
            </a:r>
          </a:p>
          <a:p>
            <a:r>
              <a:t>이것이 “모호한 말은 기준을 정해야 자료가 된다”를 몸으로 배우는 방식입니다.</a:t>
            </a:r>
          </a:p>
          <a:p/>
          <a:p>
            <a:r>
              <a:t>조작 경로는 네 가지입니다 — 차트 안 손잡이를 끌거나, 슬라이더, 플러스 마이너스 단추,</a:t>
            </a:r>
          </a:p>
          <a:p>
            <a:r>
              <a:t>‘자주 쓰는 기준’ 버튼. 그리고 기준선을 한 번도 만지지 않으면 판정 버튼이 잠깁니다.</a:t>
            </a:r>
          </a:p>
          <a:p>
            <a:r>
              <a:t>클릭만으로는 통과할 수 없습니다.</a:t>
            </a:r>
          </a:p>
          <a:p/>
          <a:p>
            <a:r>
              <a:t>— 지금부터 8분 30초 동안, 이 표를 제가 직접 만들어 보이겠습니다. 화면을 전환하겠습니다.</a:t>
            </a:r>
          </a:p>
          <a:p/>
          <a:p/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>
            <a:r>
              <a:t>  라이브 데모 8분 30초 — 이 아래는 브라우저를 보며 말한다</a:t>
            </a:r>
          </a:p>
          <a:p>
            <a:r>
              <a:t>  시작 전 필수: 헤더의 ↺ 처음부터 → ‘지우고 처음부터’</a:t>
            </a:r>
          </a:p>
          <a:p>
            <a:r>
              <a:t>  전체화면 F11 · 확대 100% · 북마크바에 #v=m3 #v=m4 #v=lab #v=free 등록</a:t>
            </a:r>
          </a:p>
          <a:p>
            <a:r>
              <a:t>═══════════════════════════════════════════════════════════</a:t>
            </a:r>
          </a:p>
          <a:p/>
          <a:p>
            <a:r>
              <a:t>【0:00–0:40】 랜딩 — 출처를 먼저 밝히고, 바로 만지게 한다</a:t>
            </a:r>
          </a:p>
          <a:p>
            <a:r>
              <a:t>〔https://weather-24solar-terms.vercel.app 을 연다〕</a:t>
            </a:r>
          </a:p>
          <a:p>
            <a:r>
              <a:t>“읽을 문단이 아니라 만지면 반응하는 자료입니다. 스크롤 없이 질문 한 줄과 버튼만 있습니다.”</a:t>
            </a:r>
          </a:p>
          <a:p>
            <a:r>
              <a:t>〔상단 배지를 짚으며〕 “기상청 ASOS 실측, 1969–2026, 16지역 × 24절기. 출처를 먼저 밝히고 시작합니다.”</a:t>
            </a:r>
          </a:p>
          <a:p>
            <a:r>
              <a:t>〔‘✦ 가이드로 먼저 해 보기’ 클릭 → 대구 기온 그래프가 한 번에 열린다〕</a:t>
            </a:r>
          </a:p>
          <a:p>
            <a:r>
              <a:t>“정식 흐름은 예측이 먼저라 그래프가 여덟 번째 화면입니다. 만지는 것부터 보시라고 이 경로로 열었습니다.”</a:t>
            </a:r>
          </a:p>
          <a:p>
            <a:r>
              <a:t>〔보라색 기준선의 ⇅ 손잡이를 끌어 올린다〕</a:t>
            </a:r>
          </a:p>
          <a:p>
            <a:r>
              <a:t>“‘덥다’를 몇 도로 볼지는 학습자가 정합니다. 올리는 순간 차트 위 숫자가 0초로 바뀝니다.”</a:t>
            </a:r>
          </a:p>
          <a:p>
            <a:r>
              <a:t>〔‘건너뛰기 →’〕</a:t>
            </a:r>
          </a:p>
          <a:p/>
          <a:p>
            <a:r>
              <a:t>【0:40–1:25】 봉인 계약 — 코드로 강제한 것</a:t>
            </a:r>
          </a:p>
          <a:p>
            <a:r>
              <a:t>〔로고 클릭 → ‘시작하기 →’ → ‘첫 예측 시작 →’〕</a:t>
            </a:r>
          </a:p>
          <a:p>
            <a:r>
              <a:t>“예측 화면입니다. 그래프도 표도 숫자도 없습니다. 머리 칩도 학습목표 문구가 아니라</a:t>
            </a:r>
          </a:p>
          <a:p>
            <a:r>
              <a:t> ‘자료를 보기 전 예측’입니다. 정답 어휘가 새지 않도록 목표 번호만 남겼습니다.”</a:t>
            </a:r>
          </a:p>
          <a:p>
            <a:r>
              <a:t>〔예측 하나를 고른다 → 개념 정리 4문항이 한 문장씩 나온다〕</a:t>
            </a:r>
          </a:p>
          <a:p>
            <a:r>
              <a:t>“이 30초 관문이 앱 전체의 뼈대입니다. 절기는 날짜, 날씨는 하루, 기후는 여러 해입니다.”</a:t>
            </a:r>
          </a:p>
          <a:p>
            <a:r>
              <a:t>〔마지막 문항을 짚으며〕 “‘처서를 9월로 옮겨야 한다’ — 이건 절기에 관한 주장입니다.</a:t>
            </a:r>
          </a:p>
          <a:p>
            <a:r>
              <a:t> 이걸 가르지 않으면 ‘절기가 더워졌다’는 오개념이 그대로 남습니다.”</a:t>
            </a:r>
          </a:p>
          <a:p>
            <a:r>
              <a:t>〔‘검증 준비 완료 →’ → ‘직접 움직여 보기 →’〕</a:t>
            </a:r>
          </a:p>
          <a:p/>
          <a:p>
            <a:r>
              <a:t>【1:25–2:40】 ★ 미션 1 — 기준이 결론을 바꾼다, 그리고 앱이 한계를 인정한다</a:t>
            </a:r>
          </a:p>
          <a:p>
            <a:r>
              <a:t>〔기준선을 25도에 둔다〕</a:t>
            </a:r>
          </a:p>
          <a:p>
            <a:r>
              <a:t>“서울에서 25도로 보면 더위가 그치는 날이 8월 30일에서 9월 12일로, 13일 늦어졌습니다.”</a:t>
            </a:r>
          </a:p>
          <a:p>
            <a:r>
              <a:t>〔‘자주 쓰는 기준’에서 28°C 무더위〕</a:t>
            </a:r>
          </a:p>
          <a:p>
            <a:r>
              <a:t>“28도로 올리면 과거 4.8일에서 현재 33일. 그치는 날은 8월 8일에서 8월 29일, 21일 차이입니다.”</a:t>
            </a:r>
          </a:p>
          <a:p>
            <a:r>
              <a:t>〔노란 절기선을 가리키며〕 “이 선은 안 움직입니다. 절기는 천문 날짜입니다. 움직인 건 곡선입니다.”</a:t>
            </a:r>
          </a:p>
          <a:p>
            <a:r>
              <a:t>〔슬라이더로 33도까지 올린다〕</a:t>
            </a:r>
          </a:p>
          <a:p>
            <a:r>
              <a:t>“여기서 앱이 스스로 멈춥니다 — 과거도 0일, 현재도 0일. 비교할 것이 남지 않았다고 말합니다.</a:t>
            </a:r>
          </a:p>
          <a:p>
            <a:r>
              <a:t> 판정을 막지는 않습니다. 학생이 눌러서, 앱이 자기 한계를 인정하는 것까지 보게 둡니다.”</a:t>
            </a:r>
          </a:p>
          <a:p>
            <a:r>
              <a:t>〔25도로 되돌리고 ‘증거 정리하기 →’〕</a:t>
            </a:r>
          </a:p>
          <a:p/>
          <a:p>
            <a:r>
              <a:t>【2:40–3:25】 ★ 미션 4 — 같은 자료, 반대 결론  〔#v=m3〕</a:t>
            </a:r>
          </a:p>
          <a:p>
            <a:r>
              <a:t>〔예측 → ‘직접 움직여 보기 →’ → ‘자주 쓰는 기준’ 1mm → 30mm → 50mm〕</a:t>
            </a:r>
          </a:p>
          <a:p>
            <a:r>
              <a:t>“서울에서 비 온 날은 89.2일에서 82.8일로 줄었습니다. 그런데 하루 50mm가 넘는 큰비는</a:t>
            </a:r>
          </a:p>
          <a:p>
            <a:r>
              <a:t> 6.6일에서 7.8일로 늘었습니다. 전국 합계로도 1mm는 10퍼센트 감소, 50mm는 13퍼센트 증가입니다.”</a:t>
            </a:r>
          </a:p>
          <a:p>
            <a:r>
              <a:t>“같은 자료입니다. 기준을 어디에 두느냐에 따라 결론의 방향이 뒤집힙니다.</a:t>
            </a:r>
          </a:p>
          <a:p>
            <a:r>
              <a:t> ‘비가 줄었다’와 ‘물난리가 잦아졌다’가 둘 다 맞을 수 있다는 걸 학생이 자기 손으로 확인합니다.”</a:t>
            </a:r>
          </a:p>
          <a:p/>
          <a:p>
            <a:r>
              <a:t>【3:25–4:10】 ★ 미션 5 — 이것이 이 앱이 가장 경계한 것  〔#v=m4〕</a:t>
            </a:r>
          </a:p>
          <a:p>
            <a:r>
              <a:t>〔예측 → ‘직접 움직여 보기 →’ · 조작 축이 세로에서 가로로 바뀐다〕</a:t>
            </a:r>
          </a:p>
          <a:p>
            <a:r>
              <a:t>“여기서는 기준선이 사라지고, 가로로 끌어 ‘가장 더울 것 같은 날’을 찍습니다.”</a:t>
            </a:r>
          </a:p>
          <a:p>
            <a:r>
              <a:t>〔6월 하순을 찍고 ‘실제와 비교하기’〕</a:t>
            </a:r>
          </a:p>
          <a:p>
            <a:r>
              <a:t>“실제로 가장 더운 날은 7월 31일, 하지보다 40일 뒤입니다. 전국 16지점이 39일에서 44일 사이입니다.”</a:t>
            </a:r>
          </a:p>
          <a:p>
            <a:r>
              <a:t>“그런데 이 지연은 기후변화가 아닙니다. 1969–73년에도 41일이었고 지금도 40일입니다.</a:t>
            </a:r>
          </a:p>
          <a:p>
            <a:r>
              <a:t> 한 해씩 빼고 다시 세도 최대 4일만 움직입니다. 반면 같은 기간 서울 더위일은 30.8일에서 68일,</a:t>
            </a:r>
          </a:p>
          <a:p>
            <a:r>
              <a:t> 2.2배가 됐습니다. ‘절기가 안 맞는다’에는 늘 있던 계절 지연과 관측된 온난화 신호가 섞여 있고,</a:t>
            </a:r>
          </a:p>
          <a:p>
            <a:r>
              <a:t> 저희는 그걸 분리해서 가르칩니다. 저희가 가장 경계한 것이 과잉 귀인입니다.”</a:t>
            </a:r>
          </a:p>
          <a:p/>
          <a:p>
            <a:r>
              <a:t>【4:10–5:30】 ★ 학생이 먼저 쓴다 — 그리고 세 번 막힌다</a:t>
            </a:r>
          </a:p>
          <a:p>
            <a:r>
              <a:t>〔`이 증거로 CERL 쓰기 →` · 한 화면에 한 칸씩 · 아래 문장은 메모장에 미리 열어 두고 붙여 넣는다〕</a:t>
            </a:r>
          </a:p>
          <a:p>
            <a:r>
              <a:t>"주장·근거·추론·한계를 한 칸씩 씁니다. 전문가 문장은 아직 없습니다. 써야 열립니다."</a:t>
            </a:r>
          </a:p>
          <a:p>
            <a:r>
              <a:t>① 주장 ← "처서가 지나도 더위가 이어진다고 판단합니다"   → 통과</a:t>
            </a:r>
          </a:p>
          <a:p>
            <a:r>
              <a:t>② 근거 ← "과거보다 지금이 훨씬 많아졌고 그 차이가 37쯤 됩니다"</a:t>
            </a:r>
          </a:p>
          <a:p>
            <a:r>
              <a:t>   → 막힘: "그 숫자가 무엇을 센 값인지 단위나 기간을 함께 써 주세요."</a:t>
            </a:r>
          </a:p>
          <a:p>
            <a:r>
              <a:t>"길이만 보면 아무 글자나 채워도 통과합니다. 그래서 근거에는 숫자와 단위가 있어야 넘어갑니다."</a:t>
            </a:r>
          </a:p>
          <a:p>
            <a:r>
              <a:t>③ 근거 고쳐 쓰기 ← "서울에서 과거 30.8일 지금 68일이었습니다"   → 통과</a:t>
            </a:r>
          </a:p>
          <a:p>
            <a:r>
              <a:t>④ 추론 ← ③을 그대로 복사해 붙여 넣는다</a:t>
            </a:r>
          </a:p>
          <a:p>
            <a:r>
              <a:t>   → 막힘: "‘근거’ 칸과 같은 문장이에요."</a:t>
            </a:r>
          </a:p>
          <a:p>
            <a:r>
              <a:t>⑤ 추론 ← "절기 날짜는 그대로인데 관측된 더위만 늦어졌기 때문입니다"   → 통과</a:t>
            </a:r>
          </a:p>
          <a:p>
            <a:r>
              <a:t>⑥ 한계 ← "이 결론은 꽤 그럴듯하다고 생각합니다 아주 확실합니다"</a:t>
            </a:r>
          </a:p>
          <a:p>
            <a:r>
              <a:t>   → 막힘: "한계에는 어디까지 통하는지가 들어가야 해요 — 지역·기간·기준·원인 중 무엇을…"</a:t>
            </a:r>
          </a:p>
          <a:p>
            <a:r>
              <a:t>⑦ 한계 ← "서울 한 지역의 5년 관측이라 전국으로 넓힐 수 없습니다"   → 통과</a:t>
            </a:r>
          </a:p>
          <a:p>
            <a:r>
              <a:t>"한계 칸은 범위를 가리키는 말이 없으면 감상문이 됩니다. 그래서 그것도 검사합니다."</a:t>
            </a:r>
          </a:p>
          <a:p/>
          <a:p>
            <a:r>
              <a:t>【5:30–6:05】 오답에 정답을 주지 않는다</a:t>
            </a:r>
          </a:p>
          <a:p>
            <a:r>
              <a:t>〔‘내 결론 저장하고 이해 확인 →’ → 일부러 틀린 보기를 고른다〕</a:t>
            </a:r>
          </a:p>
          <a:p>
            <a:r>
              <a:t>“정답을 알려 주지 않습니다 — ‘아직이에요. 정답을 알려 드리기 전에 한 번 더 볼까요?’</a:t>
            </a:r>
          </a:p>
          <a:p>
            <a:r>
              <a:t> 그리고 그 미션에 맞는 힌트로 자료로 되돌립니다. ‘그래프에서 다시 확인’ 버튼이 함께 뜹니다.”</a:t>
            </a:r>
          </a:p>
          <a:p>
            <a:r>
              <a:t>“1차 오답에 정답을 바로 고지하면 형성평가가 아니라 채점입니다.</a:t>
            </a:r>
          </a:p>
          <a:p>
            <a:r>
              <a:t> 몇 번째 시도에 맞혔는지는 기록에 남습니다.”</a:t>
            </a:r>
          </a:p>
          <a:p>
            <a:r>
              <a:t>〔맞히고 ‘모범 예시와 비교 →’ · 맨 위 봉인 해제 블록을 짚으며〕</a:t>
            </a:r>
          </a:p>
          <a:p>
            <a:r>
              <a:t>“여기서 아까 봉인한 예측이 자료와 나란히 열립니다. 예측–관찰 루프의 관찰이 여기서 닫힙니다.”</a:t>
            </a:r>
          </a:p>
          <a:p/>
          <a:p>
            <a:r>
              <a:t>【6:05–6:50】 AI 해커톤의 AI — 결론을 대신 쓰지 않는다</a:t>
            </a:r>
          </a:p>
          <a:p>
            <a:r>
              <a:t>〔‘내 결론 점검하고 마치기 →’ · 들어가는 즉시 기기 안 점검이 1회 자동 실행된다〕</a:t>
            </a:r>
          </a:p>
          <a:p>
            <a:r>
              <a:t>“기본 점검은 외부 전송이 없고, 건너뛸 수 있는 선택이 아니라 필수 경로입니다.”</a:t>
            </a:r>
          </a:p>
          <a:p>
            <a:r>
              <a:t>〔동의 체크박스를 짚고 체크 → ‘✦ 외부 AI 점검 요청’〕</a:t>
            </a:r>
          </a:p>
          <a:p>
            <a:r>
              <a:t>“외부 AI는 전송 범위를 읽고 동의해야만 열립니다. 이름·학교·연락처는 쓰지 않게 합니다.”</a:t>
            </a:r>
          </a:p>
          <a:p>
            <a:r>
              <a:t>〔응답 3~5초. 과장된 결론을 미리 넣어 두면 지역 확대와 인과 단정을 둘 다 잡는다〕</a:t>
            </a:r>
          </a:p>
          <a:p>
            <a:r>
              <a:t>“AI는 결론을 대신 쓰지 않고 과장·범위·인과만 점검합니다. 그리고 정량 검증한 것은</a:t>
            </a:r>
          </a:p>
          <a:p>
            <a:r>
              <a:t> AI가 죽어도 동작하는 쪽입니다 — 규칙 점검을 한국어 답안 100케이스로 재서 100점 만점에 100점,</a:t>
            </a:r>
          </a:p>
          <a:p>
            <a:r>
              <a:t> 오탐 0입니다. 12초를 넘으면 그 자리에서 기기 안 점검으로 갈아탑니다. 화면이 멈추지 않습니다.”</a:t>
            </a:r>
          </a:p>
          <a:p/>
          <a:p>
            <a:r>
              <a:t>【6:50–7:35】 데이터 뷰어가 아니라는 답  〔#v=lab〕</a:t>
            </a:r>
          </a:p>
          <a:p>
            <a:r>
              <a:t>“여기까지는 관측 자료를 조작했습니다. 이 화면은 물리 방정식을 조작합니다.”</a:t>
            </a:r>
          </a:p>
          <a:p>
            <a:r>
              <a:t>〔‘3. 결과 해석’ 탭 → 예측을 먼저 고르게 되어 있다. ②번을 일부러 ‘많이 늦어진다’로 고른다〕</a:t>
            </a:r>
          </a:p>
          <a:p>
            <a:r>
              <a:t>〔유효 두께 0.5m → 5m → 50m〕 “지연이 3일 → 40일 → 88일로 늘어납니다.”</a:t>
            </a:r>
          </a:p>
          <a:p>
            <a:r>
              <a:t>〔온실효과 0 → 12 W/m²〕 “연평균은 12.4도에서 14.7도로 오르는데 지연은 40일에서 꼼짝하지 않습니다.</a:t>
            </a:r>
          </a:p>
          <a:p>
            <a:r>
              <a:t> 계절이 늦는 이유는 온실효과가 아니라 열을 머금는 양입니다. 방금 제 예측이 틀렸습니다.”</a:t>
            </a:r>
          </a:p>
          <a:p>
            <a:r>
              <a:t>“사전 계산값을 꺼내는 게 아니라 365일을 적분합니다. 서울 5m에서 40일 — 실측 40일과 맞습니다.”</a:t>
            </a:r>
          </a:p>
          <a:p/>
          <a:p>
            <a:r>
              <a:t>【7:35–8:30】 숫자는 흔들리고 방향은 남는다  〔#v=free〕</a:t>
            </a:r>
          </a:p>
          <a:p>
            <a:r>
              <a:t>〔‘2. 증거 읽기’ → ‘지도 16지점’〕 “16지점 전부에서 늘었습니다. 한 화면에서 봅니다.”</a:t>
            </a:r>
          </a:p>
          <a:p>
            <a:r>
              <a:t>〔비교 기간 26구간을 훑는다〕</a:t>
            </a:r>
          </a:p>
          <a:p>
            <a:r>
              <a:t>“‘왜 하필 그 5년이냐’를 물으실 것 같아 앱 안에 넣었습니다. 1996–2000부터 2021–2025까지</a:t>
            </a:r>
          </a:p>
          <a:p>
            <a:r>
              <a:t> 5년 창 26개입니다. 더위일은 36일에서 68일 사이에서 흔들리지만, 26개 구간 전부가 과거보다 많습니다.</a:t>
            </a:r>
          </a:p>
          <a:p>
            <a:r>
              <a:t> 더위가 그치는 날도 26개 전부 늦어졌고, 폭은 +4일에서 +17일, 30년으로 보면 +9.6일입니다.”</a:t>
            </a:r>
          </a:p>
          <a:p>
            <a:r>
              <a:t>“숫자는 흔들리고, 방향은 남습니다. 이 앱은 기후변화를 확정하는 도구가 아니라</a:t>
            </a:r>
          </a:p>
          <a:p>
            <a:r>
              <a:t> 자료가 어디까지 말할 수 있는지를 배우는 도구입니다.”</a:t>
            </a:r>
          </a:p>
          <a:p/>
          <a:p>
            <a:r>
              <a:t>〔슬라이드로 복귀〕</a:t>
            </a:r>
          </a:p>
          <a:p/>
          <a:p>
            <a:r>
              <a:t>⚠ 시간이 밀리면 — CERL 은 ②까지만(①③④⑤⑥⑦ 생략), 실험실·AI 를 빼고 자유탐구로 바로 간다.</a:t>
            </a:r>
          </a:p>
          <a:p>
            <a:r>
              <a:t>⚠ 막히면 되돌리지 말고 다음 구간으로. 복구 시도가 초과의 주범이다.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〔18:00–20:00 · 2분 · 5. 학습 성과와 학습적 피드백 — 눈썹: (5) 학습 효과 10점〕</a:t>
            </a:r>
          </a:p>
          <a:p/>
          <a:p>
            <a:r>
              <a:t>학습 성과는 완료 화면의 ‘내 기록’으로 회수합니다. 교사가 그대로 채점 근거로 씁니다.</a:t>
            </a:r>
          </a:p>
          <a:p>
            <a:r>
              <a:t>예측 5건, CERL 5편, 개념 렌즈 4문항, 이해 확인 5문항, 전이 확인 3문항,</a:t>
            </a:r>
          </a:p>
          <a:p>
            <a:r>
              <a:t>그리고 실험실에서 학생이 고른 물리량과 그때의 계절 지연이 남습니다.</a:t>
            </a:r>
          </a:p>
          <a:p>
            <a:r>
              <a:t>전이 확인 세 문항은 앱에 나오지 않은 새 상황입니다. 열대야 기사, 학교 옥상 기온,</a:t>
            </a:r>
          </a:p>
          <a:p>
            <a:r>
              <a:t>아이스크림과 기온의 상관 — 오늘 배운 것을 처음 보는 상황에 적용하는지 봅니다.</a:t>
            </a:r>
          </a:p>
          <a:p/>
          <a:p>
            <a:r>
              <a:t>〔카드 6장을 가리키며〕</a:t>
            </a:r>
          </a:p>
          <a:p>
            <a:r>
              <a:t>배점표가 요구하는 “잘못된 조작·선택에 대한 학습적 피드백”은 여섯 가지로 설계했습니다.</a:t>
            </a:r>
          </a:p>
          <a:p>
            <a:r>
              <a:t>문구는 전부 배포본에 실제로 있는 것입니다. 방금 데모에서 네 개를 보셨습니다.</a:t>
            </a:r>
          </a:p>
          <a:p/>
          <a:p>
            <a:r>
              <a:t>공통 원칙은 하나입니다. 오답에 정답을 바로 알려 주지 않는 것입니다.</a:t>
            </a:r>
          </a:p>
          <a:p>
            <a:r>
              <a:t>1차 오답이면 정답을 감추고 그 미션에 맞는 힌트로 자료로 되돌립니다.</a:t>
            </a:r>
          </a:p>
          <a:p>
            <a:r>
              <a:t>기준을 극단으로 올려 비교가 불가능해지면 판정을 누르기 전에 그 자리에서 알려 줍니다.</a:t>
            </a:r>
          </a:p>
          <a:p>
            <a:r>
              <a:t>내 결론 칸에는 내용 요건이 있습니다. 근거에는 단위가, 한계에는 범위를 가리키는 말이 있어야 합니다.</a:t>
            </a:r>
          </a:p>
          <a:p>
            <a:r>
              <a:t>그리고 문장을 복사하거나 화면 안내문을 베끼면 걸립니다.</a:t>
            </a:r>
          </a:p>
          <a:p/>
          <a:p>
            <a:r>
              <a:t>— 그런데 이 항목이 저희가 가장 취약하다고 스스로 판정한 곳이기도 합니다.</a:t>
            </a:r>
          </a:p>
          <a:p>
            <a:r>
              <a:t>   피드백 설계는 있는데, 그것이 실제로 학습을 일으켰다는 증거가 아직 없습니다.</a:t>
            </a:r>
          </a:p>
          <a:p>
            <a:r>
              <a:t>   학생 파일럿을 못 했기 때문입니다. 이 얘기는 마지막 장에서 다시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〔20:00–22:30 · 2분 30초 · 6. 구현 완성도 — 눈썹: (6) 구현 완성도 30점〕</a:t>
            </a:r>
          </a:p>
          <a:p/>
          <a:p>
            <a:r>
              <a:t>데이터부터 말씀드리겠습니다.</a:t>
            </a:r>
          </a:p>
          <a:p>
            <a:r>
              <a:t>기상청 ASOS 종관기상관측 일자료, 1969년부터 2026년까지, 16지점 3지표입니다.</a:t>
            </a:r>
          </a:p>
          <a:p>
            <a:r>
              <a:t>여기서 파생한 것이 기준 초과 일수, 마지막 초과일, 절기 무렵 15일 평균입니다.</a:t>
            </a:r>
          </a:p>
          <a:p/>
          <a:p>
            <a:r>
              <a:t>중요한 것은 사전 계산한 이미지가 아니라는 점입니다. 학생이 조작하면 그 자리에서 다시 계산합니다.</a:t>
            </a:r>
          </a:p>
          <a:p>
            <a:r>
              <a:t>방금 데모에서 기준선을 옮길 때마다 숫자가 바뀐 것이 그것입니다.</a:t>
            </a:r>
          </a:p>
          <a:p/>
          <a:p>
            <a:r>
              <a:t>〔지표 배지를 가리키며〕</a:t>
            </a:r>
          </a:p>
          <a:p>
            <a:r>
              <a:t>자동 회귀 검증이 매 커밋 8,360건 돕니다. 데이터 8,213건과 문서 정합성 147건입니다.</a:t>
            </a:r>
          </a:p>
          <a:p>
            <a:r>
              <a:t>15개 축이고, 하나라도 실패하면 배포를 막습니다.</a:t>
            </a:r>
          </a:p>
          <a:p>
            <a:r>
              <a:t>배포본은 외부 라이브러리 0개, 외부 도메인 0개, 첫 로드 134KB입니다.</a:t>
            </a:r>
          </a:p>
          <a:p/>
          <a:p>
            <a:r>
              <a:t>〔오른쪽으로 옮기며〕</a:t>
            </a:r>
          </a:p>
          <a:p>
            <a:r>
              <a:t>AI는 두 군데에 있습니다.</a:t>
            </a:r>
          </a:p>
          <a:p>
            <a:r>
              <a:t>첫째는 제품 안입니다. 학생이 “서울에서 더위가 늦어졌으니 우리나라 전체가 기후변화 때문에</a:t>
            </a:r>
          </a:p>
          <a:p>
            <a:r>
              <a:t>완전히 바뀌었다”고 쓰면, 지역 확대와 인과 단정을 둘 다 잡고 다음 행동으로 한계 문장 쓰기를 줍니다.</a:t>
            </a:r>
          </a:p>
          <a:p>
            <a:r>
              <a:t>이 응답은 오늘 아침 배포본에서 실제로 받은 것입니다. 응답 3.8초였습니다.</a:t>
            </a:r>
          </a:p>
          <a:p>
            <a:r>
              <a:t>구조화 출력을 강제하고, 외부 전송 동의 뒤에만 요청하고, 실패하면 기기 안 규칙 점검으로 넘어갑니다.</a:t>
            </a:r>
          </a:p>
          <a:p>
            <a:r>
              <a:t>학습은 항상 완결됩니다.</a:t>
            </a:r>
          </a:p>
          <a:p/>
          <a:p>
            <a:r>
              <a:t>둘째는 제작 과정입니다. Claude Code로 개발했고, 여섯 차례 AI 레드팀으로 제 결과물을 공격하게 했습니다.</a:t>
            </a:r>
          </a:p>
          <a:p>
            <a:r>
              <a:t>적발한 결함이 200건이 넘습니다. 그중 제가 스스로 철회한 주장이 여럿입니다.</a:t>
            </a:r>
          </a:p>
          <a:p>
            <a:r>
              <a:t>예를 들어 초기 앱은 서울 더위일을 33일에서 82일로 인쇄했는데, 15일 평활 곡선에서 날을 센 것이었고</a:t>
            </a:r>
          </a:p>
          <a:p>
            <a:r>
              <a:t>실제 관측일수로 다시 세니 30.8일에서 68일이었습니다. ‘해안이 내륙보다 늦다’는 설명도</a:t>
            </a:r>
          </a:p>
          <a:p>
            <a:r>
              <a:t>한 해씩 빼고 재계산해 보니 격차가 11일에서 2일로 무너져서 통째로 폐기했습니다.</a:t>
            </a:r>
          </a:p>
          <a:p/>
          <a:p>
            <a:r>
              <a:t>— AI가 준 지적도 그대로 믿지 않았습니다. 재현 검증해서 11건은 기각했습니다.</a:t>
            </a:r>
          </a:p>
          <a:p>
            <a:r>
              <a:t>   1인 팀에 교차 검증이 없다는 약점을, 자기 반증 절차로 메우려고 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〔22:30–24:00 · 1분 30초 · 마무리 + 멘토님께 드리는 질문〕</a:t>
            </a:r>
          </a:p>
          <a:p/>
          <a:p>
            <a:r>
              <a:t>정리하겠습니다.</a:t>
            </a:r>
          </a:p>
          <a:p/>
          <a:p>
            <a:r>
              <a:t>지금 상태는 이렇습니다. 배포는 끝나 있고, 제출물 다섯 종은 준비돼 있습니다.</a:t>
            </a:r>
          </a:p>
          <a:p>
            <a:r>
              <a:t>자체 채점으로는 본 대회 배점표 기준 100점 중 93점 정도로 봅니다.</a:t>
            </a:r>
          </a:p>
          <a:p/>
          <a:p>
            <a:r>
              <a:t>아직 못 한 것을 먼저 말씀드리겠습니다.</a:t>
            </a:r>
          </a:p>
          <a:p>
            <a:r>
              <a:t>첫째, 학생 파일럿을 한 번도 못 했습니다. 계획서는 완성돼 있습니다 —</a:t>
            </a:r>
          </a:p>
          <a:p>
            <a:r>
              <a:t>중학생 5명, 고등학생 5명, 무설명 테스트, 즉시 전이와 24시간 지연 전이까지. 그런데 실시가 0회입니다.</a:t>
            </a:r>
          </a:p>
          <a:p>
            <a:r>
              <a:t>둘째, 그래서 소요 시간이 실측이 아닙니다. 69분에서 76분이라는 숫자는 설계값입니다.</a:t>
            </a:r>
          </a:p>
          <a:p>
            <a:r>
              <a:t>셋째, 스톱워치 리허설 기록이 없습니다. 발표 1분 초과가 9점 감점입니다.</a:t>
            </a:r>
          </a:p>
          <a:p/>
          <a:p>
            <a:r>
              <a:t>〔멘토를 보며〕</a:t>
            </a:r>
          </a:p>
          <a:p>
            <a:r>
              <a:t>멘토님들께 네 가지를 여쭙고 싶습니다.</a:t>
            </a:r>
          </a:p>
          <a:p/>
          <a:p>
            <a:r>
              <a:t>하나. 남은 11일에 파일럿을 한 번만 할 수 있다면, 무엇부터 재야 할까요.</a:t>
            </a:r>
          </a:p>
          <a:p>
            <a:r>
              <a:t>    지금 계획은 여덟 가지를 재게 돼 있는데, 다 못 잰다면 우선순위를 알고 싶습니다.</a:t>
            </a:r>
          </a:p>
          <a:p/>
          <a:p>
            <a:r>
              <a:t>둘. 미션 3의 지역 차이가 기준값과 비교 구간에 민감합니다.</a:t>
            </a:r>
          </a:p>
          <a:p>
            <a:r>
              <a:t>    5년·25도에서는 제주가 강원보다 뚜렷하게 늦은데, 30년으로 넓히거나 27도로 올리면 순서가 뒤집힙니다.</a:t>
            </a:r>
          </a:p>
          <a:p>
            <a:r>
              <a:t>    이걸 결함으로 보고 미션을 고쳐야 할지, 아니면 그 민감성 자체를 학습 내용으로 드러내야 할지</a:t>
            </a:r>
          </a:p>
          <a:p>
            <a:r>
              <a:t>    판단이 서지 않습니다.</a:t>
            </a:r>
          </a:p>
          <a:p/>
          <a:p>
            <a:r>
              <a:t>셋. 열관성 실험실의 기후민감도가 0.71도로, 실제 3도의 4분의 1 수준입니다.</a:t>
            </a:r>
          </a:p>
          <a:p>
            <a:r>
              <a:t>    학습용 단순화로 두어도 되는 범위인지, 기상·기후 전문가 관점에서 봐 주시면 좋겠습니다.</a:t>
            </a:r>
          </a:p>
          <a:p/>
          <a:p>
            <a:r>
              <a:t>넷. 필수 경로가 미션 1만 16화면입니다. 한 차시 안에 끝나지 않을 수 있습니다.</a:t>
            </a:r>
          </a:p>
          <a:p>
            <a:r>
              <a:t>    무엇을 선택으로 내려야 학습이 덜 깨질지 조언을 구합니다.</a:t>
            </a:r>
          </a:p>
          <a:p/>
          <a:p>
            <a:r>
              <a:t>— 주소는 이것입니다. 지금 열어 보실 수 있고, 로그인도 설치도 필요 없습니다.</a:t>
            </a:r>
          </a:p>
          <a:p>
            <a:r>
              <a:t>  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1AEB8F-97AB-4D52-9978-85C6494D41E0}"/>
              </a:ext>
            </a:extLst>
          </p:cNvPr>
          <p:cNvSpPr txBox="1"/>
          <p:nvPr userDrawn="1"/>
        </p:nvSpPr>
        <p:spPr>
          <a:xfrm>
            <a:off x="1354157" y="1653313"/>
            <a:ext cx="9483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기상</a:t>
            </a:r>
            <a:r>
              <a:rPr lang="ko-KR" altLang="en-US" sz="5400" b="1" dirty="0" err="1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기후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해커톤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경진대회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5123A-5876-4A69-91B8-D4D5182FF61C}"/>
              </a:ext>
            </a:extLst>
          </p:cNvPr>
          <p:cNvSpPr txBox="1"/>
          <p:nvPr userDrawn="1"/>
        </p:nvSpPr>
        <p:spPr>
          <a:xfrm>
            <a:off x="1517801" y="350120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프로젝트명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3B1A-711B-4C9C-A54E-C1F461C74791}"/>
              </a:ext>
            </a:extLst>
          </p:cNvPr>
          <p:cNvSpPr txBox="1"/>
          <p:nvPr userDrawn="1"/>
        </p:nvSpPr>
        <p:spPr>
          <a:xfrm>
            <a:off x="1517801" y="4122113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 err="1">
                <a:solidFill>
                  <a:srgbClr val="F3ECDC"/>
                </a:solidFill>
                <a:latin typeface="+mj-ea"/>
                <a:ea typeface="+mj-ea"/>
              </a:rPr>
              <a:t>팀명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C9A37-82F9-48F4-B02D-008F91CCD2E3}"/>
              </a:ext>
            </a:extLst>
          </p:cNvPr>
          <p:cNvSpPr txBox="1"/>
          <p:nvPr userDrawn="1"/>
        </p:nvSpPr>
        <p:spPr>
          <a:xfrm>
            <a:off x="1517801" y="4743022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결과물 </a:t>
            </a:r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URL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5C146-79C6-43F2-B429-1E96AF12F936}"/>
              </a:ext>
            </a:extLst>
          </p:cNvPr>
          <p:cNvSpPr txBox="1"/>
          <p:nvPr userDrawn="1"/>
        </p:nvSpPr>
        <p:spPr>
          <a:xfrm>
            <a:off x="1517801" y="5363930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발표자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7A9BE40-1B9A-44EC-815C-CDB3DDB49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6323" y="3515502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D700112A-8E80-4A44-8018-E7FBCDB20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6323" y="4136411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ADEC1D49-B4EB-4025-8B2B-0F584C025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6323" y="4763583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 및 표지 필수 기재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09F741B2-080E-47F6-BE11-888EAA85F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23" y="5378228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3030E-3450-4E6E-981D-F738A0B4A794}"/>
              </a:ext>
            </a:extLst>
          </p:cNvPr>
          <p:cNvSpPr/>
          <p:nvPr userDrawn="1"/>
        </p:nvSpPr>
        <p:spPr>
          <a:xfrm>
            <a:off x="1517800" y="2606369"/>
            <a:ext cx="91564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6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1D16D-A60E-436E-8DFD-19757DBA4EB5}"/>
              </a:ext>
            </a:extLst>
          </p:cNvPr>
          <p:cNvSpPr txBox="1"/>
          <p:nvPr userDrawn="1"/>
        </p:nvSpPr>
        <p:spPr>
          <a:xfrm>
            <a:off x="4272424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8B0727-89E1-4E63-A27D-0AD368A2F4CB}"/>
              </a:ext>
            </a:extLst>
          </p:cNvPr>
          <p:cNvSpPr/>
          <p:nvPr userDrawn="1"/>
        </p:nvSpPr>
        <p:spPr>
          <a:xfrm>
            <a:off x="4198070" y="3458726"/>
            <a:ext cx="379586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76A7-A708-47A5-B184-A260C6B97D1B}"/>
              </a:ext>
            </a:extLst>
          </p:cNvPr>
          <p:cNvSpPr txBox="1"/>
          <p:nvPr userDrawn="1"/>
        </p:nvSpPr>
        <p:spPr>
          <a:xfrm>
            <a:off x="4875153" y="3896636"/>
            <a:ext cx="24416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0" dirty="0">
                <a:solidFill>
                  <a:srgbClr val="F3ECDC"/>
                </a:solidFill>
                <a:latin typeface="+mj-ea"/>
                <a:ea typeface="+mj-ea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409011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4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팀 및 결과물 기본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8DDD3F-FB3F-4F18-839F-C29BDCC32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92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DDB0E97-6316-4A0C-B265-BD114253F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11FE98CB-41F7-4DD0-8F02-1B92269A99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499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E4AA64-0452-4EC4-AA5F-1BE587C4F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7FE64648-02D4-45B0-8606-7020E78DD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98927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87E9C-A654-4F17-8BEE-06563E6786FF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895F8A-EC22-44D0-8B1B-87A20C89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83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7970-E004-4559-8E24-E6B3B8906483}"/>
              </a:ext>
            </a:extLst>
          </p:cNvPr>
          <p:cNvSpPr txBox="1"/>
          <p:nvPr userDrawn="1"/>
        </p:nvSpPr>
        <p:spPr>
          <a:xfrm>
            <a:off x="695325" y="66737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243A5E"/>
                </a:solidFill>
                <a:latin typeface="+mj-ea"/>
                <a:ea typeface="+mj-ea"/>
              </a:rPr>
              <a:t>I </a:t>
            </a:r>
            <a:r>
              <a:rPr lang="ko-KR" altLang="en-US" sz="2400" b="1" dirty="0">
                <a:solidFill>
                  <a:srgbClr val="243A5E"/>
                </a:solidFill>
                <a:latin typeface="+mj-ea"/>
                <a:ea typeface="+mj-ea"/>
              </a:rPr>
              <a:t>발표 자료 가이드 라인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ACDA-41BD-4F81-B47D-36F3F0EED278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2C6C439-B5BD-4294-9193-AAA46B502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7721D-3748-4F22-935E-59022A26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BD5AD-BBA7-4B77-A43A-29AF3565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61F4A-886A-4754-899D-7B35E937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5C46-0311-4688-9CA5-7847BCE3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9C4D-CFC2-4C3C-8DB8-5710BEED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F282-9284-40F9-9DEB-E1E9D1CB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D96F-33B4-4E8C-A426-2BCA46C7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21BD3-8D5D-41EE-AC33-C61BFA2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2456C-F7A3-412C-BCEC-A32CC4A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F49CB-E06A-4D36-B52E-BF4A2CF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9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94528-83D7-46FD-9AC8-665694F2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5D25-A6A4-48F0-A862-ECF2E7BC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12EE4-53D5-45EA-BED3-FD991C91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1DDFE-134E-42D1-BB98-29F8F11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9AB72-1B66-44A1-9805-44A7C856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D2497-C25D-470D-92CA-C039E878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0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A2287-3A24-4A9B-A25C-531CC26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FB798-5B87-4DD3-94D6-BEFC388C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DFEC1-F453-4A2E-A832-DEED20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371965-04E9-436F-B256-D1401C65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1F59A6-D04C-4F7E-9946-599FA5E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017B9-CCA4-42F7-B39F-FFF2CE7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B15B95-5DD7-4399-8EBC-FA0DA649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93FF6A-3BA0-4773-8398-722E07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70173-A86C-487C-A787-FF29ACA9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5E747-9B22-41B0-8718-C277D12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540313-FB3C-4C0E-80BC-E8B6536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761E5-6E32-4B78-8E21-9398D728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504F72-5EE4-42BC-A125-51B4FF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580218-30C8-4F48-B7E0-09D1497E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77B4D-3229-48D0-A626-3703A0C2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4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E0F5B-8895-426F-B5C5-52CFB3F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6C6F-BE04-4F13-BEC6-E0EAEDCE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E29C7-041E-4A84-AE5D-269ACD80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DDF39-D622-4A00-9F7B-0CCAA6C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C52D2-2DE1-476F-8614-DA7D5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2CC28-BBA0-4F98-856B-30A1FE5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83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DCCD-97CD-48C5-9C72-A9CDB50A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355B30-69BD-4F2B-9EF6-B2B1A38E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439DBE-EC05-4A3C-AB44-24C354CE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C58D7-4282-4696-9A7D-B3EC93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ACE517-5683-4E62-90F7-4669A241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E488-DDB4-4992-B7BB-3862EA94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0F54-4970-4D4D-951B-C8E2B9D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613-2EE1-492C-B78C-E20142F2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32238-F504-4187-9E88-D5398C29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3F913-FBC0-425B-B90D-A6B04785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FB53F-D184-4BEE-B37A-04B8B52C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EB6B8F-8EC3-45A6-942F-CAAEE7E76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1181A-43D6-4990-AF25-41F9E5E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DB4D7-5165-4439-B29F-2DDD7DCF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A07BB-E505-454E-BC13-482524C2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17651-7F62-4663-9FA8-E32951C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29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E973C7-576A-4EBA-A6B8-8356D8D1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DB594-0434-4770-B5CD-47382B60B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FE65D-BC72-4133-B8FD-F2CEC7D99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DCC6F-9151-45BF-9AC8-E56F08361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7C69-832B-493D-A1F5-06B01782B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84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1" r:id="rId4"/>
    <p:sldLayoutId id="2147483664" r:id="rId5"/>
    <p:sldLayoutId id="2147483666" r:id="rId6"/>
    <p:sldLayoutId id="2147483667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D265396-D6A5-4E03-B4DF-ACA0FECB2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Weather24 — 절기, 아직 맞을까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77D18B4-3BB8-416E-9C54-F3174EE5C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팀 Weather24 (1인 팀)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15EE85F-2DED-4DDE-B24D-6321F38D82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https://weather-24solar-terms.vercel.app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DDB9B2A-74DB-4588-A828-D5E52F5C5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신동준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1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E44EC2-EFEC-4FD7-B852-DC26E5339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 </a:t>
            </a:r>
            <a:r>
              <a:rPr lang="ko-KR" altLang="en-US" dirty="0"/>
              <a:t>결과물 및 팀 기본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B8884-3C95-4B01-9701-49C80C6C5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32091"/>
              </p:ext>
            </p:extLst>
          </p:nvPr>
        </p:nvGraphicFramePr>
        <p:xfrm>
          <a:off x="695325" y="1834221"/>
          <a:ext cx="5912866" cy="447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285">
                  <a:extLst>
                    <a:ext uri="{9D8B030D-6E8A-4147-A177-3AD203B41FA5}">
                      <a16:colId xmlns:a16="http://schemas.microsoft.com/office/drawing/2014/main" val="586554776"/>
                    </a:ext>
                  </a:extLst>
                </a:gridCol>
                <a:gridCol w="4539581">
                  <a:extLst>
                    <a:ext uri="{9D8B030D-6E8A-4147-A177-3AD203B41FA5}">
                      <a16:colId xmlns:a16="http://schemas.microsoft.com/office/drawing/2014/main" val="969126144"/>
                    </a:ext>
                  </a:extLst>
                </a:gridCol>
              </a:tblGrid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팀 Weather24 (1인 팀)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87245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Weather24 — 절기, 아직 맞을까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26789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결과물 접속 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URL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https://weather-24solar-terms.vercel.app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83240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한 줄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중·고생이 ‘덥다’ 기준을 정해 24절기를 </a:t>
                      </a:r>
                      <a:br>
                        <a:rPr lang="en-US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실측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검증하는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기후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학습 웹앱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22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48080B-6C64-460A-B146-BE3F10BF41DA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결과물 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F249-7C5F-41C6-B25B-769B40D71A76}"/>
              </a:ext>
            </a:extLst>
          </p:cNvPr>
          <p:cNvSpPr txBox="1"/>
          <p:nvPr/>
        </p:nvSpPr>
        <p:spPr>
          <a:xfrm>
            <a:off x="6931843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팀</a:t>
            </a:r>
            <a:r>
              <a:rPr lang="en-US" altLang="ko-KR" sz="1600" b="1" dirty="0">
                <a:solidFill>
                  <a:srgbClr val="243A5E"/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원</a:t>
            </a:r>
            <a:r>
              <a:rPr lang="en-US" altLang="ko-KR" sz="1600" b="1" dirty="0">
                <a:solidFill>
                  <a:srgbClr val="243A5E"/>
                </a:solidFill>
              </a:rPr>
              <a:t>) </a:t>
            </a:r>
            <a:r>
              <a:rPr lang="ko-KR" altLang="en-US" sz="1600" b="1" dirty="0">
                <a:solidFill>
                  <a:srgbClr val="243A5E"/>
                </a:solidFill>
              </a:rPr>
              <a:t>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8A93D-B596-453E-B7AD-10652D7A9AFA}"/>
              </a:ext>
            </a:extLst>
          </p:cNvPr>
          <p:cNvSpPr txBox="1"/>
          <p:nvPr/>
        </p:nvSpPr>
        <p:spPr>
          <a:xfrm>
            <a:off x="7145515" y="1726793"/>
            <a:ext cx="3714163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신동준 / 기획·개발·데이터·디자인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※ 1인 팀 — 단독 수행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4E886-5123-4BC2-B466-2D03FCDE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178040" y="3310128"/>
            <a:ext cx="393192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학습 흐름 — 한 미션의 뼈대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3584448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3" y="3630168"/>
            <a:ext cx="107899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F3ECDC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3" y="3803904"/>
            <a:ext cx="1078992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예측 봉인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3" y="4041648"/>
            <a:ext cx="1078992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F3ECDC"/>
                </a:solidFill>
              </a:rPr>
              <a:t>자료 비공개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98764" y="3954780"/>
            <a:ext cx="118872" cy="100584"/>
          </a:xfrm>
          <a:prstGeom prst="rightArrow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3584448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04504" y="3630168"/>
            <a:ext cx="107899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243A5E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4" y="3803904"/>
            <a:ext cx="1078992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직접 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4" y="4041648"/>
            <a:ext cx="1078992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6B7A8C"/>
                </a:solidFill>
              </a:rPr>
              <a:t>기준·지역·절기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70364" y="3954780"/>
            <a:ext cx="118872" cy="100584"/>
          </a:xfrm>
          <a:prstGeom prst="rightArrow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21240" y="3584448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76104" y="3630168"/>
            <a:ext cx="1078992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243A5E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3803904"/>
            <a:ext cx="1078992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내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6104" y="4041648"/>
            <a:ext cx="1078992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6B7A8C"/>
                </a:solidFill>
              </a:rPr>
              <a:t>주장·근거·추론·한계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617720"/>
            <a:ext cx="900684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14616" y="4663440"/>
            <a:ext cx="827532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4929530"/>
            <a:ext cx="827532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관측지점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8452" y="4617720"/>
            <a:ext cx="900684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5027" y="4663440"/>
            <a:ext cx="827532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5027" y="4929530"/>
            <a:ext cx="827532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절기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98863" y="4617720"/>
            <a:ext cx="900684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39" y="4663440"/>
            <a:ext cx="827532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4929530"/>
            <a:ext cx="827532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지표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09276" y="4617720"/>
            <a:ext cx="900684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5851" y="4663440"/>
            <a:ext cx="827532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5851" y="4929530"/>
            <a:ext cx="827532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미션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266944"/>
            <a:ext cx="393192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기상청 ASOS 1969–2026 실측 · 조작 즉시 재계산</a:t>
            </a:r>
          </a:p>
        </p:txBody>
      </p:sp>
    </p:spTree>
    <p:extLst>
      <p:ext uri="{BB962C8B-B14F-4D97-AF65-F5344CB8AC3E}">
        <p14:creationId xmlns:p14="http://schemas.microsoft.com/office/powerpoint/2010/main" val="271636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학습 대상 분석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B9B69-CD13-4ABA-89B7-714CC4BFB1B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학습 대상 — 중3~고2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교육과정상 ‘기후변화와 지구환경’·‘자료 해석’ 성취기준 배치 학년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임계값 개념과 평균·빈도 구분이 가능한 최소 학년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24절기를 들어는 봤으나 천문 기준임은 미학습 — 오개념 교정 여지 최대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난이도 적합성 — 같은 개념을 3단 용어로 반복 (아래)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287-3CD4-4307-84DA-D9AB62A182C9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대상과 난이도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89" y="3575912"/>
            <a:ext cx="3286729" cy="822350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54" y="3639920"/>
            <a:ext cx="3177001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생활어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54" y="3859376"/>
            <a:ext cx="3177001" cy="49316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A8C"/>
                </a:solidFill>
              </a:rPr>
              <a:t>‘덥다’ · ‘여름’ — 정의 없이 시작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6B7A8C"/>
                </a:solidFill>
              </a:rPr>
              <a:t>등장 위치 · 첫 화면 · 예측 봉인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2635" y="3337863"/>
            <a:ext cx="3286729" cy="1060399"/>
          </a:xfrm>
          <a:prstGeom prst="roundRect">
            <a:avLst>
              <a:gd name="adj" fmla="val 6000"/>
            </a:avLst>
          </a:prstGeom>
          <a:solidFill>
            <a:srgbClr val="CFDFE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499" y="3401871"/>
            <a:ext cx="3177001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조작어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499" y="3621327"/>
            <a:ext cx="3177001" cy="73121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A8C"/>
                </a:solidFill>
              </a:rPr>
              <a:t>기준 25°C · 기준 이상 더위일 · 마지막 초과일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6B7A8C"/>
                </a:solidFill>
              </a:rPr>
              <a:t>등장 위치 · 기준선 조작 · 판정 화면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7380" y="3099815"/>
            <a:ext cx="3286729" cy="1298448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2244" y="3163822"/>
            <a:ext cx="3177001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학술어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2244" y="3383279"/>
            <a:ext cx="3177001" cy="9692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F3ECDC"/>
                </a:solidFill>
              </a:rPr>
              <a:t>임계값 · 유효 열용량 매개변수 · 계절 지연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F3ECDC"/>
                </a:solidFill>
              </a:rPr>
              <a:t>등장 위치 · 열관성 실험실 · 내 결론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89" y="4453127"/>
            <a:ext cx="1011622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한 개념을 세 번 다른 말로 만나는 구조 · 수식은 끝까지 비노출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89" y="4782310"/>
            <a:ext cx="1011622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필수 경로는 짧게, 심화는 선택 분기로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89" y="5074919"/>
            <a:ext cx="2391895" cy="786384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2754" y="5120638"/>
            <a:ext cx="22821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F3ECDC"/>
                </a:solidFill>
              </a:rPr>
              <a:t>필수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54" y="5294375"/>
            <a:ext cx="22821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5개 미션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54" y="5532119"/>
            <a:ext cx="2282167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F3ECDC"/>
                </a:solidFill>
              </a:rPr>
              <a:t>한 화면 한 질문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61789" y="5417819"/>
            <a:ext cx="118872" cy="100584"/>
          </a:xfrm>
          <a:prstGeom prst="rightArrow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612665" y="5074919"/>
            <a:ext cx="2391895" cy="78638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67528" y="5120638"/>
            <a:ext cx="22821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243A5E"/>
                </a:solidFill>
              </a:rPr>
              <a:t>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7528" y="5294375"/>
            <a:ext cx="22821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열관성 실험실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7528" y="5532119"/>
            <a:ext cx="2282167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6B7A8C"/>
                </a:solidFill>
              </a:rPr>
              <a:t>에너지수지 모형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036564" y="5417819"/>
            <a:ext cx="118872" cy="100584"/>
          </a:xfrm>
          <a:prstGeom prst="rightArrow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87440" y="5074919"/>
            <a:ext cx="2391895" cy="78638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304" y="5120638"/>
            <a:ext cx="22821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243A5E"/>
                </a:solidFill>
              </a:rPr>
              <a:t>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304" y="5294375"/>
            <a:ext cx="22821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전국 16지점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304" y="5532119"/>
            <a:ext cx="2282167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6B7A8C"/>
                </a:solidFill>
              </a:rPr>
              <a:t>26개 비교 구간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11339" y="5417819"/>
            <a:ext cx="118872" cy="100584"/>
          </a:xfrm>
          <a:prstGeom prst="rightArrow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762215" y="5074919"/>
            <a:ext cx="2391895" cy="78638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17079" y="5120638"/>
            <a:ext cx="2282167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1">
                <a:solidFill>
                  <a:srgbClr val="243A5E"/>
                </a:solidFill>
              </a:rPr>
              <a:t>교사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7079" y="5294375"/>
            <a:ext cx="22821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학습지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17079" y="5532119"/>
            <a:ext cx="2282167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0">
                <a:solidFill>
                  <a:srgbClr val="6B7A8C"/>
                </a:solidFill>
              </a:rPr>
              <a:t>오개념 표 · 루브릭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89" y="5934454"/>
            <a:ext cx="1011622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필수 경로만으로 한 차시 완결 · 심화는 남는 시간과 학생 수준에 맞춰 선택</a:t>
            </a:r>
          </a:p>
        </p:txBody>
      </p:sp>
    </p:spTree>
    <p:extLst>
      <p:ext uri="{BB962C8B-B14F-4D97-AF65-F5344CB8AC3E}">
        <p14:creationId xmlns:p14="http://schemas.microsoft.com/office/powerpoint/2010/main" val="61293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문제 정의 및 분석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주제 적합성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39DF-756A-4E6A-AD22-E947033D59E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다루는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개념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5AF997-4027-4587-9DE0-F2F8CAC57DE9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문제 — 절기·날씨·기후의 혼용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“처서가 더워졌다” = 천문 날짜에 기온을 귀속하는 오개념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기존 콘텐츠는 결론만 전달 — 학습자의 검증 경험 없음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개발계획서 제시 개념 → 결과물 반영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24절기의 과학(태양황경 15°) → 궤도 화면 (아래)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기후평년과 계절 길이 → 미션 2 ‘여름은 며칠일까’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기온 상승과 계절 이동 → 미션 1 처서 · 미션 5 계절 지연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습도·강수 변화 → 지표 3종 · 미션 4 빈도 대 강도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(확장) CO₂–기온 상관 → ‘지구 맥락’ 화면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61FE07-854A-44C9-B054-CD4DF9D05556}"/>
              </a:ext>
            </a:extLst>
          </p:cNvPr>
          <p:cNvSpPr/>
          <p:nvPr/>
        </p:nvSpPr>
        <p:spPr>
          <a:xfrm>
            <a:off x="6303264" y="1807302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주제를 체험 중에 인식하는 세 지점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첫 화면 표제가 곧 주제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모든 조작 화면에 자료 범위 고지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개념 렌즈 4문항 통과 후에야 관측 진입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865F0-8E23-45CF-A2AE-A46E3641491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중 주제 인식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16" name="Picture 15" descr="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34" y="3685031"/>
            <a:ext cx="2926080" cy="2186247"/>
          </a:xfrm>
          <a:prstGeom prst="rect">
            <a:avLst/>
          </a:prstGeom>
          <a:ln w="9525">
            <a:solidFill>
              <a:srgbClr val="C8D4E4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366306" y="4105655"/>
            <a:ext cx="1444752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E76F51"/>
                </a:solidFill>
              </a:rPr>
              <a:t>처서 (미션 1의 검증 대상)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E76F51"/>
                </a:solidFill>
              </a:rPr>
              <a:t>= 태양황경 150°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E76F51"/>
                </a:solidFill>
              </a:rPr>
              <a:t>= 양력 8/23 무렵 고정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E76F51"/>
                </a:solidFill>
              </a:rPr>
              <a:t>↔ 그 무렵 기온은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89" y="5989319"/>
            <a:ext cx="4576526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태양황경 15° 간격으로 정한 천문 날짜 — 기온 기준 아님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1008" y="2650356"/>
            <a:ext cx="4649678" cy="7459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41008" y="2650356"/>
            <a:ext cx="50292" cy="745938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9024" y="2705220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FBAE40"/>
                </a:solidFill>
              </a:rPr>
              <a:t>첫 화면 표제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024" y="2924675"/>
            <a:ext cx="443022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243A5E"/>
                </a:solidFill>
              </a:rPr>
              <a:t>“24절기, 지금도 맞을까?”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움직이지 않는 절기와 움직이는 기후를 나란히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41008" y="3381875"/>
            <a:ext cx="4649678" cy="11980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41008" y="3381875"/>
            <a:ext cx="50292" cy="1198021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9024" y="3436740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모든 조작 화면 하단 고지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9024" y="3656196"/>
            <a:ext cx="443022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243A5E"/>
                </a:solidFill>
              </a:rPr>
              <a:t>“◈ 기상청 ASOS 실측 · 과거 5년(1969–1973) vs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   현재 5년(2021–2025) — 관측 신호이고 30년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   기후평년이 아닙니다 · 절기는 태양 위치로 정한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   천문 날짜라 해마다 거의 움직이지 않습니다”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41008" y="4479155"/>
            <a:ext cx="4649678" cy="149187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41008" y="4479155"/>
            <a:ext cx="50292" cy="149187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9024" y="4534020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개념 렌즈 — 절기·날씨·기후 분류 4문항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9024" y="4753476"/>
            <a:ext cx="4430222" cy="8778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243A5E"/>
                </a:solidFill>
              </a:rPr>
              <a:t>· “처서는 양력 8월 23일 무렵이다” → 절기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· “처서가 지났는데도 어제 낮 기온 31°C” → 날씨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· “서울 한 해 평균기온이 …로 높아졌다” → 기후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243A5E"/>
                </a:solidFill>
              </a:rPr>
              <a:t>· “처서를 9월로 옮겨야 한다” → 절기 (오개념 판별)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1008" y="5971031"/>
            <a:ext cx="464967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화면에 실제로 표시되는 문구를 그대로 인용</a:t>
            </a:r>
          </a:p>
        </p:txBody>
      </p:sp>
    </p:spTree>
    <p:extLst>
      <p:ext uri="{BB962C8B-B14F-4D97-AF65-F5344CB8AC3E}">
        <p14:creationId xmlns:p14="http://schemas.microsoft.com/office/powerpoint/2010/main" val="179892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 아이디어 도출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아이디어 독창성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2C525-A8A5-4BC9-974B-CDB882122563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차별화 포인트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3CE83-9F51-4381-9B10-B4B02CB3D987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차별화 — 실측과 모형을 한 앱에서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24절기(문화 기준선)를 과학 검증 대상으로 전환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‘덥다’의 정의를 학습자에게 이양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관측으로 본 것을 물리 모형으로 다시 확인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D71CAD-7DBD-4A18-9BBC-EF7E61C95575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새로운 학습 경험 — 예측 봉인 루프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자료 공개 전 내 생각 봉인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 후 봉인한 예측 재대조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333DD-0B00-4716-9907-EA19D8AE674F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새로운 학습 경험과 </a:t>
            </a:r>
            <a:r>
              <a:rPr lang="ko-KR" altLang="en-US" sz="1600" b="1" dirty="0" err="1">
                <a:solidFill>
                  <a:srgbClr val="243A5E"/>
                </a:solidFill>
              </a:rPr>
              <a:t>인터렉션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77386" y="2980943"/>
            <a:ext cx="200479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1394" y="3035807"/>
            <a:ext cx="187678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PhET · En-ROADS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1394" y="3255263"/>
            <a:ext cx="1876782" cy="7132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6B7A8C"/>
                </a:solidFill>
              </a:rPr>
              <a:t>모형만 · 실측 대조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7048" y="2980943"/>
            <a:ext cx="2004798" cy="1024128"/>
          </a:xfrm>
          <a:prstGeom prst="roundRect">
            <a:avLst>
              <a:gd name="adj" fmla="val 6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1057" y="3035807"/>
            <a:ext cx="187678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Weather24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1057" y="3255263"/>
            <a:ext cx="1876782" cy="7132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F3ECDC"/>
                </a:solidFill>
              </a:rPr>
              <a:t>실측 + 모형 + 문화 기준선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7386" y="4059935"/>
            <a:ext cx="200479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1394" y="4114799"/>
            <a:ext cx="187678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일반 기후 교재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1394" y="4334255"/>
            <a:ext cx="1876782" cy="7132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6B7A8C"/>
                </a:solidFill>
              </a:rPr>
              <a:t>결론만 전달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7048" y="4059935"/>
            <a:ext cx="200479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1057" y="4114799"/>
            <a:ext cx="187678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00" b="1">
                <a:solidFill>
                  <a:srgbClr val="243A5E"/>
                </a:solidFill>
              </a:rPr>
              <a:t>기후 스트라이프 · 개방포털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1057" y="4334255"/>
            <a:ext cx="1876782" cy="7132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00" b="0">
                <a:solidFill>
                  <a:srgbClr val="6B7A8C"/>
                </a:solidFill>
              </a:rPr>
              <a:t>실측만 · 조작 학습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738" y="2953511"/>
            <a:ext cx="512064" cy="2157984"/>
          </a:xfrm>
          <a:prstGeom prst="rect">
            <a:avLst/>
          </a:prstGeom>
          <a:noFill/>
        </p:spPr>
        <p:txBody>
          <a:bodyPr vert="vert270" wrap="square" lIns="54864" tIns="27432" rIns="54864" bIns="27432" anchor="ctr">
            <a:spAutoFit/>
          </a:bodyPr>
          <a:lstStyle/>
          <a:p>
            <a:pPr algn="ctr"/>
            <a:r>
              <a:rPr sz="900" b="1">
                <a:solidFill>
                  <a:srgbClr val="E76F51"/>
                </a:solidFill>
              </a:rPr>
              <a:t>변수 조작 학습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9954" y="5129783"/>
            <a:ext cx="411932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1">
                <a:solidFill>
                  <a:srgbClr val="E76F51"/>
                </a:solidFill>
              </a:rPr>
              <a:t>실측 관측 자료 보유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026" y="5477254"/>
            <a:ext cx="4686253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두 축을 함께 가진 칸의 공백 — 그 자리를 채운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026" y="5806439"/>
            <a:ext cx="4686253" cy="4389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문화 기준선을 쓰는 이유 — 학습자가 이미 알고 있어</a:t>
            </a:r>
          </a:p>
          <a:p>
            <a:pPr algn="l"/>
            <a:r>
              <a:rPr sz="1200" b="0">
                <a:solidFill>
                  <a:srgbClr val="243A5E"/>
                </a:solidFill>
              </a:rPr>
              <a:t>   “틀렸을 수도 있다”는 반증 동기가 즉시 생김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1008" y="2734056"/>
            <a:ext cx="464967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41008" y="2734056"/>
            <a:ext cx="50292" cy="530352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9024" y="2788920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6B7A8C"/>
                </a:solidFill>
              </a:rPr>
              <a:t>① 예측 봉인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9024" y="3008376"/>
            <a:ext cx="4430222" cy="2011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자료·그래프 비공개 상태로 내 생각 선택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41008" y="3337560"/>
            <a:ext cx="464967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41008" y="3337560"/>
            <a:ext cx="50292" cy="530352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9024" y="3392424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② 직접 조작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9024" y="3611880"/>
            <a:ext cx="4430222" cy="2011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기준선·지역·절기·지표를 바꿔 확인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1008" y="3941064"/>
            <a:ext cx="464967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41008" y="3941064"/>
            <a:ext cx="50292" cy="5303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69024" y="3995928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③ 봉인 해제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9024" y="4215384"/>
            <a:ext cx="4430222" cy="2011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“내 예측 vs 자료” 대조 — 어긋난 지점 명시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41008" y="4544568"/>
            <a:ext cx="464967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41008" y="4544568"/>
            <a:ext cx="50292" cy="530352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69024" y="4599432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④ 내 결론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9024" y="4818888"/>
            <a:ext cx="4430222" cy="2011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주장·근거·추론·한계를 내 말로 작성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41008" y="5148072"/>
            <a:ext cx="4649678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41008" y="5148072"/>
            <a:ext cx="50292" cy="530352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69024" y="5202936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⑤ 이해 확인 → 전이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9024" y="5422392"/>
            <a:ext cx="4430222" cy="2011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오답은 자료로 되돌림 · 다른 절기에 적용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1008" y="5788152"/>
            <a:ext cx="464967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③이 이 앱의 핵심 — 봉인에서 끝내지 않는 필수 대조</a:t>
            </a:r>
          </a:p>
        </p:txBody>
      </p:sp>
    </p:spTree>
    <p:extLst>
      <p:ext uri="{BB962C8B-B14F-4D97-AF65-F5344CB8AC3E}">
        <p14:creationId xmlns:p14="http://schemas.microsoft.com/office/powerpoint/2010/main" val="97667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 체험∙참여형 설계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25F57-79A1-487A-9B9B-DB80AFF0BD3F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조작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선택과</a:t>
            </a:r>
            <a:r>
              <a:rPr lang="ko-KR" altLang="en-US" sz="1600" b="1" dirty="0">
                <a:solidFill>
                  <a:srgbClr val="243A5E"/>
                </a:solidFill>
              </a:rPr>
              <a:t> 학습 개념의 연계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BA7C6-A9C7-45E9-8639-8B9BBAAF5193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기준선 이동 → 아래 숫자 즉시 재계산 (배포본 실측)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 경로 4종 — 손잡이 끌기 / 슬라이더 / ＋− / 자주 쓰는 기준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기준선 미조작 시 판정 버튼 잠금 — 클릭만으로 통과 불가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E136B6-B59B-4080-96C2-2494E87C33ED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탐구 범위 — 16지점 × 24절기 × 3지표 × 26구간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보기 3종 — 그래프 / 전국 지도 / 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조작부마다 화면 라벨 명시 · 결과 수치를 조작부 바로 위에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A3589-B7F1-4D9D-BC79-DFC4623843F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요소 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4738" y="2715767"/>
          <a:ext cx="4722828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ECDC"/>
                          </a:solidFill>
                        </a:rPr>
                        <a:t>내가 정한 ‘덥다’</a:t>
                      </a:r>
                    </a:p>
                  </a:txBody>
                  <a:tcPr marL="45720" marR="45720" marT="9144" marB="9144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ECDC"/>
                          </a:solidFill>
                        </a:rPr>
                        <a:t>더위일 과거 → 현재</a:t>
                      </a:r>
                    </a:p>
                  </a:txBody>
                  <a:tcPr marL="45720" marR="45720" marT="9144" marB="9144" anchor="ctr"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ECDC"/>
                          </a:solidFill>
                        </a:rPr>
                        <a:t>더위가 그치는 날</a:t>
                      </a:r>
                    </a:p>
                  </a:txBody>
                  <a:tcPr marL="45720" marR="45720" marT="9144" marB="9144" anchor="ctr"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A5E"/>
                          </a:solidFill>
                        </a:rPr>
                        <a:t>22°C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75일 → 110일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9/17 → 9/29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A5E"/>
                          </a:solidFill>
                        </a:rPr>
                        <a:t>25°C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31일 → 68일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8/30 → 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A5E"/>
                          </a:solidFill>
                        </a:rPr>
                        <a:t>28°C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4.8일 → 33일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8/8 → 8/29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A5E"/>
                          </a:solidFill>
                        </a:rPr>
                        <a:t>30°C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0.6일 → 7.8일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A5E"/>
                          </a:solidFill>
                        </a:rPr>
                        <a:t>7/19 → 8/10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</a:rPr>
                        <a:t>33°C</a:t>
                      </a:r>
                    </a:p>
                  </a:txBody>
                  <a:tcPr marL="45720" marR="45720" marT="9144" marB="9144" anchor="ctr">
                    <a:solidFill>
                      <a:srgbClr val="F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</a:rPr>
                        <a:t>0일 → 0일</a:t>
                      </a:r>
                    </a:p>
                  </a:txBody>
                  <a:tcPr marL="45720" marR="45720" marT="9144" marB="9144" anchor="ctr">
                    <a:solidFill>
                      <a:srgbClr val="F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</a:rPr>
                        <a:t>비교 불가 → 안내</a:t>
                      </a:r>
                    </a:p>
                  </a:txBody>
                  <a:tcPr marL="45720" marR="45720" marT="9144" marB="9144" anchor="ctr">
                    <a:solidFill>
                      <a:srgbClr val="FF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4738" y="4544567"/>
            <a:ext cx="4722829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서울·기온 실측 — 같은 자료, 기준에 따라 달라지는 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738" y="4873751"/>
            <a:ext cx="4722829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조작 결과 → 학습 개념 연결</a:t>
            </a:r>
          </a:p>
          <a:p>
            <a:pPr algn="l"/>
            <a:r>
              <a:rPr sz="1200" b="0">
                <a:solidFill>
                  <a:srgbClr val="243A5E"/>
                </a:solidFill>
              </a:rPr>
              <a:t>  · 기준↑ → 일수↓ → “모호한 말은 기준을 정해야 자료가 된다”</a:t>
            </a:r>
          </a:p>
          <a:p>
            <a:pPr algn="l"/>
            <a:r>
              <a:rPr sz="1200" b="0">
                <a:solidFill>
                  <a:srgbClr val="243A5E"/>
                </a:solidFill>
              </a:rPr>
              <a:t>  · 1mm 감소·50mm 증가 → “빈도와 강도는 다른 지표”</a:t>
            </a:r>
          </a:p>
          <a:p>
            <a:pPr algn="l"/>
            <a:r>
              <a:rPr sz="1200" b="0">
                <a:solidFill>
                  <a:srgbClr val="243A5E"/>
                </a:solidFill>
              </a:rPr>
              <a:t>  · 온실효과↑ → 곡선 상승·지연 불변 → “둘은 다른 원인”</a:t>
            </a:r>
          </a:p>
        </p:txBody>
      </p:sp>
      <p:pic>
        <p:nvPicPr>
          <p:cNvPr id="22" name="Picture 21" descr="map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67" y="2587752"/>
            <a:ext cx="2777559" cy="3273552"/>
          </a:xfrm>
          <a:prstGeom prst="rect">
            <a:avLst/>
          </a:prstGeom>
          <a:ln w="9525">
            <a:solidFill>
              <a:srgbClr val="C8D4E4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522720" y="5934455"/>
            <a:ext cx="4686253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‘지도 16지점’ 보기 — 한 지역의 결과를 전국으로 넓힐 수 없음의 시각적 확인</a:t>
            </a:r>
          </a:p>
        </p:txBody>
      </p:sp>
    </p:spTree>
    <p:extLst>
      <p:ext uri="{BB962C8B-B14F-4D97-AF65-F5344CB8AC3E}">
        <p14:creationId xmlns:p14="http://schemas.microsoft.com/office/powerpoint/2010/main" val="289831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 학습 성과와 학습적 피드백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3FC62-F864-4C9F-A90B-09C29A7B196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성과와 피드백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74FD1-2FF0-4693-9C1C-96D50627453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학습 성과 — 완료 화면 ‘내 기록’으로 교사가 회수 (채점 근거)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314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7890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예측 5건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90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봉인 후 대조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7830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54406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CERL 5편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4406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주장·근거·추론·한계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347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70923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렌즈 4문항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0923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절기·날씨·기후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0864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7440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이해확인 5문항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440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1차/2차 구분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7380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3956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전이 3문항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3956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미학습 상황 적용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3897" y="2276855"/>
            <a:ext cx="1606788" cy="603504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20473" y="2322575"/>
            <a:ext cx="1533636" cy="3138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실험실 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473" y="2608782"/>
            <a:ext cx="1533636" cy="2534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내가 고른 물리량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314" y="3026663"/>
            <a:ext cx="10189372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잘못된 조작·선택에 대한 학습적 피드백 6종 — 전부 배포본 실측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314" y="3337559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1314" y="3337559"/>
            <a:ext cx="50292" cy="85953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9330" y="3392423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① 기준을 극단으로 올렸을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330" y="3611879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“과거·현재 모두 0일에 가까워 비교할 것이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  남지 않아요. 기준선을 내리면 비교가 시작됩니다”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70923" y="3337559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70923" y="3337559"/>
            <a:ext cx="50292" cy="859536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8939" y="3392423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② 이해 확인 1차 오답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8939" y="3611879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“아직이에요. 정답을 알려 드리기 전에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  한 번 더 볼까요?” + 되돌림 힌트 — 정답 비공개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0532" y="3337559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940532" y="3337559"/>
            <a:ext cx="50292" cy="859536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68548" y="3392423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③ 오답 되돌림 힌트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8548" y="3611879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“기준선을 25°C와 28°C에 놓았을 때 같은 자료인데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  여름 길이가 달라졌던 것을 떠올려 보세요”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1314" y="4306823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1314" y="4306823"/>
            <a:ext cx="50292" cy="859536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9330" y="4361686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④ 근거에 단위 누락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330" y="4581143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“그 숫자가 무엇을 센 값인지 단위나 기간을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  함께 써 주세요 (예: …일, …°C, …년)”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70923" y="4306823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470923" y="4306823"/>
            <a:ext cx="50292" cy="859536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8939" y="4361686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243A5E"/>
                </a:solidFill>
              </a:rPr>
              <a:t>⑤ 한계에 범위어 누락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8939" y="4581143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“어디까지 통하는지가 들어가야 해요 —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  지역·기간·기준·원인 중 무엇을 넘어 말할 수 없는지”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40532" y="4306823"/>
            <a:ext cx="3250153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40532" y="4306823"/>
            <a:ext cx="50292" cy="859536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68548" y="4361686"/>
            <a:ext cx="3030697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6B7A8C"/>
                </a:solidFill>
              </a:rPr>
              <a:t>⑥ 베끼기·복사 차단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8548" y="4581143"/>
            <a:ext cx="3030697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243A5E"/>
                </a:solidFill>
              </a:rPr>
              <a:t>“화면의 안내 문장을 그대로 옮긴 것 같아요”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43A5E"/>
                </a:solidFill>
              </a:rPr>
              <a:t>“‘근거’ 칸과 같은 문장이에요”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314" y="5330951"/>
            <a:ext cx="10189372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공통 원칙 — 오답 시 정답 비공개 · 자료로 되돌린 뒤 재질문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314" y="5623558"/>
            <a:ext cx="10189372" cy="4206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우회 차단 — 문장 중복·발문 베끼기 검사 · 오개념(범위 확대·인과 단정) 점검을 필수 경로에서 실행</a:t>
            </a:r>
          </a:p>
        </p:txBody>
      </p:sp>
    </p:spTree>
    <p:extLst>
      <p:ext uri="{BB962C8B-B14F-4D97-AF65-F5344CB8AC3E}">
        <p14:creationId xmlns:p14="http://schemas.microsoft.com/office/powerpoint/2010/main" val="1109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 구현 완성도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구현 완성도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데이터 반영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기상청 ASOS 종관기상관측 일자료 1969–2026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16지점 × 24절기 × 3지표(기온·강수·습도)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파생 집계 — 기준 초과 일수 / 마지막 초과일 / 절기 무렵 15일 평균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 시 즉시 재계산 — 사전 계산 이미지 아님 (아래 실화면)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8FA0BB-8FD3-432D-8721-19EAAD195D1E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제품 안의 AI — 증거 감사관의 과장 차단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0E4E2-2FB2-49BF-8D48-DF916F2E644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en-US" altLang="ko-KR" sz="1600" b="1" dirty="0">
                <a:solidFill>
                  <a:srgbClr val="243A5E"/>
                </a:solidFill>
              </a:rPr>
              <a:t>AI</a:t>
            </a:r>
            <a:r>
              <a:rPr lang="ko-KR" altLang="en-US" sz="1600" b="1" dirty="0">
                <a:solidFill>
                  <a:srgbClr val="243A5E"/>
                </a:solidFill>
              </a:rPr>
              <a:t> </a:t>
            </a:r>
            <a:r>
              <a:rPr lang="ko-KR" altLang="en-US" sz="1600" b="1" dirty="0" err="1">
                <a:solidFill>
                  <a:srgbClr val="243A5E"/>
                </a:solidFill>
              </a:rPr>
              <a:t>도구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기술</a:t>
            </a:r>
            <a:r>
              <a:rPr lang="ko-KR" altLang="en-US" sz="1600" b="1" dirty="0">
                <a:solidFill>
                  <a:srgbClr val="243A5E"/>
                </a:solidFill>
              </a:rPr>
              <a:t> 활용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pic>
        <p:nvPicPr>
          <p:cNvPr id="16" name="Picture 15" descr="chart-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02" y="3118103"/>
            <a:ext cx="4613101" cy="1959500"/>
          </a:xfrm>
          <a:prstGeom prst="rect">
            <a:avLst/>
          </a:prstGeom>
          <a:ln w="9525">
            <a:solidFill>
              <a:srgbClr val="C8D4E4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019602" y="5111495"/>
            <a:ext cx="4613101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서울 · 과거(회색 점선) 대 현재(빨강) · 보라색이 내가 정한 기준선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602" y="5404103"/>
            <a:ext cx="1070979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78" y="5449823"/>
            <a:ext cx="997827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8,360건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78" y="5715913"/>
            <a:ext cx="997827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자동 회귀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00309" y="5404103"/>
            <a:ext cx="1070979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36885" y="5449823"/>
            <a:ext cx="997827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0건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6885" y="5715913"/>
            <a:ext cx="997827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겹침·잘림·오류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1016" y="5404103"/>
            <a:ext cx="1070979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7592" y="5449823"/>
            <a:ext cx="997827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134KB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7592" y="5715913"/>
            <a:ext cx="997827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첫 로드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1724" y="5404103"/>
            <a:ext cx="1070979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8300" y="5449823"/>
            <a:ext cx="997827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0개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8300" y="5715913"/>
            <a:ext cx="997827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외부 도메인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1008" y="2127073"/>
            <a:ext cx="4649678" cy="776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41008" y="2127073"/>
            <a:ext cx="50292" cy="776352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69024" y="2181937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6B7A8C"/>
                </a:solidFill>
              </a:rPr>
              <a:t>학생이 쓴 결론 (일부러 과장)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9024" y="2401392"/>
            <a:ext cx="4430222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“서울에서 더위가 늦어졌으니 우리나라 전체가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43A5E"/>
                </a:solidFill>
              </a:rPr>
              <a:t>  기후변화 때문에 완전히 바뀌었다”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1008" y="2840305"/>
            <a:ext cx="4649678" cy="1277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41008" y="2840305"/>
            <a:ext cx="50292" cy="127722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69024" y="2895169"/>
            <a:ext cx="443022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1">
                <a:solidFill>
                  <a:srgbClr val="E76F51"/>
                </a:solidFill>
              </a:rPr>
              <a:t>AI 응답 (배포본 실측 · 200 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9024" y="3114625"/>
            <a:ext cx="4430222" cy="6035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243A5E"/>
                </a:solidFill>
              </a:rPr>
              <a:t>“서울 자료만으로 우리나라 전체를 말할 수 없고,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43A5E"/>
                </a:solidFill>
              </a:rPr>
              <a:t>  ‘기후변화 때문에’라는 원인도 이 근거만으로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43A5E"/>
                </a:solidFill>
              </a:rPr>
              <a:t>  단정할 수 없다”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43A5E"/>
                </a:solidFill>
              </a:rPr>
              <a:t>→ 다음 행동: 한계 문장 쓰기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008" y="4178808"/>
            <a:ext cx="4649678" cy="6583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  · 구조화 출력 강제 · 외부 전송 동의 후에만 요청</a:t>
            </a:r>
          </a:p>
          <a:p>
            <a:pPr algn="l"/>
            <a:r>
              <a:rPr sz="1200" b="0">
                <a:solidFill>
                  <a:srgbClr val="243A5E"/>
                </a:solidFill>
              </a:rPr>
              <a:t>  · 실패 시 기기 안 규칙 점검으로 폴백 — 학습은 항상 완결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008" y="4837176"/>
            <a:ext cx="464967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43A5E"/>
                </a:solidFill>
              </a:rPr>
              <a:t>■ 제작 과정의 AI — Claude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41008" y="5111496"/>
            <a:ext cx="1476740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77584" y="5157216"/>
            <a:ext cx="1403588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6회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7584" y="5423306"/>
            <a:ext cx="1403588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AI 레드팀 자체 감사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27476" y="5111496"/>
            <a:ext cx="1476740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64052" y="5157216"/>
            <a:ext cx="1403588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100/100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4052" y="5423306"/>
            <a:ext cx="1403588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AI 품질 평가 세트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13945" y="5111496"/>
            <a:ext cx="1476740" cy="566928"/>
          </a:xfrm>
          <a:prstGeom prst="roundRect">
            <a:avLst>
              <a:gd name="adj" fmla="val 6000"/>
            </a:avLst>
          </a:prstGeom>
          <a:solidFill>
            <a:srgbClr val="EFF5FB"/>
          </a:solidFill>
          <a:ln w="9525">
            <a:solidFill>
              <a:srgbClr val="C8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50521" y="5157216"/>
            <a:ext cx="1403588" cy="29480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243A5E"/>
                </a:solidFill>
              </a:rPr>
              <a:t>6건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0521" y="5423306"/>
            <a:ext cx="1403588" cy="2381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850" b="0">
                <a:solidFill>
                  <a:srgbClr val="6B7A8C"/>
                </a:solidFill>
              </a:rPr>
              <a:t>프롬프트 세션 원문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1008" y="5751576"/>
            <a:ext cx="464967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50" b="0">
                <a:solidFill>
                  <a:srgbClr val="6B7A8C"/>
                </a:solidFill>
              </a:rPr>
              <a:t>자기 결과물을 AI로 반증 → 전량 수정 → 게이트로 재발 방지</a:t>
            </a:r>
          </a:p>
        </p:txBody>
      </p:sp>
    </p:spTree>
    <p:extLst>
      <p:ext uri="{BB962C8B-B14F-4D97-AF65-F5344CB8AC3E}">
        <p14:creationId xmlns:p14="http://schemas.microsoft.com/office/powerpoint/2010/main" val="278376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0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2353</Words>
  <Application>Microsoft Office PowerPoint</Application>
  <PresentationFormat>와이드스크린</PresentationFormat>
  <Paragraphs>300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페이퍼로지 8 ExtraBold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동준 신</cp:lastModifiedBy>
  <cp:revision>39</cp:revision>
  <cp:lastPrinted>2026-07-31T07:23:24Z</cp:lastPrinted>
  <dcterms:created xsi:type="dcterms:W3CDTF">2026-07-24T07:24:55Z</dcterms:created>
  <dcterms:modified xsi:type="dcterms:W3CDTF">2026-08-04T14:36:37Z</dcterms:modified>
</cp:coreProperties>
</file>